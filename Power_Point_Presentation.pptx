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Default Extension="avif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4" r:id="rId15"/>
    <p:sldId id="296" r:id="rId16"/>
    <p:sldId id="279" r:id="rId17"/>
    <p:sldId id="280" r:id="rId18"/>
    <p:sldId id="281" r:id="rId19"/>
    <p:sldId id="283" r:id="rId20"/>
    <p:sldId id="286" r:id="rId21"/>
    <p:sldId id="287" r:id="rId22"/>
    <p:sldId id="288" r:id="rId23"/>
    <p:sldId id="290" r:id="rId24"/>
    <p:sldId id="292" r:id="rId25"/>
    <p:sldId id="275" r:id="rId26"/>
    <p:sldId id="278" r:id="rId27"/>
    <p:sldId id="298" r:id="rId28"/>
    <p:sldId id="300" r:id="rId29"/>
    <p:sldId id="299" r:id="rId30"/>
    <p:sldId id="293" r:id="rId31"/>
    <p:sldId id="294" r:id="rId32"/>
    <p:sldId id="295" r:id="rId33"/>
    <p:sldId id="302" r:id="rId34"/>
    <p:sldId id="303" r:id="rId35"/>
    <p:sldId id="304" r:id="rId36"/>
    <p:sldId id="305" r:id="rId37"/>
    <p:sldId id="306" r:id="rId3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E13F"/>
    <a:srgbClr val="2196F3"/>
    <a:srgbClr val="34FF19"/>
    <a:srgbClr val="F9CECD"/>
    <a:srgbClr val="E4F4FD"/>
    <a:srgbClr val="C1092A"/>
    <a:srgbClr val="6D8763"/>
    <a:srgbClr val="FEAE09"/>
    <a:srgbClr val="DAC1B5"/>
    <a:srgbClr val="F8D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696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84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877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2014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683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021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056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31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794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099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7496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1A3CE-ED84-4346-9E84-492E4E7A5190}" type="datetimeFigureOut">
              <a:rPr lang="it-IT" smtClean="0"/>
              <a:t>18/09/2024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74898-86FF-49A7-9ADD-706BCB70E5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416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2.png"/><Relationship Id="rId2" Type="http://schemas.openxmlformats.org/officeDocument/2006/relationships/image" Target="../media/image6.av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web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0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923" y="515817"/>
            <a:ext cx="5593460" cy="5884983"/>
          </a:xfrm>
          <a:prstGeom prst="rect">
            <a:avLst/>
          </a:prstGeom>
        </p:spPr>
      </p:pic>
      <p:sp>
        <p:nvSpPr>
          <p:cNvPr id="4" name="AutoShape 2" descr="David Scaradozzi – FabLearn Italy 2020"/>
          <p:cNvSpPr>
            <a:spLocks noChangeAspect="1" noChangeArrowheads="1"/>
          </p:cNvSpPr>
          <p:nvPr/>
        </p:nvSpPr>
        <p:spPr bwMode="auto">
          <a:xfrm>
            <a:off x="190499" y="-167482"/>
            <a:ext cx="281354" cy="136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349" y="603277"/>
            <a:ext cx="3733800" cy="1191670"/>
          </a:xfrm>
          <a:prstGeom prst="rect">
            <a:avLst/>
          </a:prstGeom>
        </p:spPr>
      </p:pic>
      <p:sp>
        <p:nvSpPr>
          <p:cNvPr id="10" name="Ritardo 9"/>
          <p:cNvSpPr/>
          <p:nvPr/>
        </p:nvSpPr>
        <p:spPr>
          <a:xfrm>
            <a:off x="611676" y="515813"/>
            <a:ext cx="3577265" cy="5884987"/>
          </a:xfrm>
          <a:prstGeom prst="flowChartDelay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/>
          <p:cNvSpPr txBox="1"/>
          <p:nvPr/>
        </p:nvSpPr>
        <p:spPr>
          <a:xfrm>
            <a:off x="7205383" y="2309745"/>
            <a:ext cx="4119110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AI Solutions for Vessel Identification in SAR Images</a:t>
            </a:r>
            <a:endParaRPr lang="en-US" sz="4800" b="1" dirty="0" smtClean="0">
              <a:latin typeface="Times New Roman" panose="02020603050405020304" pitchFamily="18" charset="0"/>
              <a:ea typeface="Microsoft JhengHei Light" panose="020B03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681088" y="1199112"/>
            <a:ext cx="32112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LOOKING FOR VESSELS </a:t>
            </a:r>
            <a:r>
              <a:rPr lang="it-IT" sz="32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it-IT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it-IT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40" y="2936631"/>
            <a:ext cx="2675709" cy="2420102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7205382" y="5565531"/>
            <a:ext cx="4772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Zazzarini Micol – </a:t>
            </a:r>
            <a:r>
              <a:rPr lang="it-IT" sz="2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Fiorani</a:t>
            </a:r>
            <a:r>
              <a:rPr lang="it-IT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Andrea</a:t>
            </a:r>
            <a:endParaRPr lang="it-IT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94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867" y="-159371"/>
            <a:ext cx="6743117" cy="7366988"/>
          </a:xfrm>
          <a:prstGeom prst="rect">
            <a:avLst/>
          </a:prstGeom>
          <a:effectLst>
            <a:glow>
              <a:schemeClr val="accent1">
                <a:alpha val="50000"/>
              </a:schemeClr>
            </a:glow>
            <a:softEdge rad="863600"/>
          </a:effectLst>
        </p:spPr>
      </p:pic>
      <p:sp>
        <p:nvSpPr>
          <p:cNvPr id="7" name="Ritardo 6"/>
          <p:cNvSpPr/>
          <p:nvPr/>
        </p:nvSpPr>
        <p:spPr>
          <a:xfrm rot="10800000">
            <a:off x="3635153" y="1590674"/>
            <a:ext cx="8556846" cy="5267325"/>
          </a:xfrm>
          <a:prstGeom prst="flowChartDelay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/>
          <p:cNvSpPr txBox="1"/>
          <p:nvPr/>
        </p:nvSpPr>
        <p:spPr>
          <a:xfrm>
            <a:off x="5461088" y="2318791"/>
            <a:ext cx="69403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SAR </a:t>
            </a:r>
            <a:r>
              <a:rPr lang="it-IT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Ship</a:t>
            </a:r>
            <a:r>
              <a:rPr lang="it-IT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it-IT" sz="3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State of 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Materials</a:t>
            </a:r>
            <a:r>
              <a:rPr lang="it-IT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lang="it-IT" sz="3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it-IT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Tuning</a:t>
            </a:r>
            <a:endParaRPr lang="it-IT" sz="3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it-IT" sz="3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it-IT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tangolo 4"/>
          <p:cNvSpPr/>
          <p:nvPr/>
        </p:nvSpPr>
        <p:spPr>
          <a:xfrm>
            <a:off x="0" y="0"/>
            <a:ext cx="12192000" cy="1590675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401" y="213791"/>
            <a:ext cx="3733800" cy="1191670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2888083" y="424905"/>
            <a:ext cx="4673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it-IT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64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0"/>
            <a:ext cx="12192000" cy="1619251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9251"/>
            <a:ext cx="12192000" cy="5238749"/>
          </a:xfrm>
          <a:prstGeom prst="rect">
            <a:avLst/>
          </a:prstGeom>
        </p:spPr>
      </p:pic>
      <p:sp>
        <p:nvSpPr>
          <p:cNvPr id="2" name="CasellaDiTesto 1"/>
          <p:cNvSpPr txBox="1"/>
          <p:nvPr/>
        </p:nvSpPr>
        <p:spPr>
          <a:xfrm>
            <a:off x="79965" y="1823349"/>
            <a:ext cx="5749335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of objects at sea using SAR for the monitoring and surveillance of vessels 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 of AIS signal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Goal: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the current state of the art in vessel identification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Synthetic Aperture Radar (SAR) imagery, in collaboration with National Research Council of Italy (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it-IT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 smtClean="0">
              <a:solidFill>
                <a:schemeClr val="bg1"/>
              </a:solidFill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401" y="213791"/>
            <a:ext cx="3733800" cy="1191670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1323975" y="278988"/>
            <a:ext cx="6819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 </a:t>
            </a:r>
            <a:r>
              <a:rPr lang="it-IT" sz="5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Ship</a:t>
            </a:r>
            <a:r>
              <a:rPr lang="it-IT" sz="5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5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it-I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17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tangolo 22"/>
          <p:cNvSpPr/>
          <p:nvPr/>
        </p:nvSpPr>
        <p:spPr>
          <a:xfrm>
            <a:off x="0" y="10037"/>
            <a:ext cx="12192000" cy="1743075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959" y="1776373"/>
            <a:ext cx="2235176" cy="2235176"/>
          </a:xfrm>
          <a:prstGeom prst="rect">
            <a:avLst/>
          </a:prstGeom>
        </p:spPr>
      </p:pic>
      <p:sp>
        <p:nvSpPr>
          <p:cNvPr id="2" name="CasellaDiTesto 1"/>
          <p:cNvSpPr txBox="1"/>
          <p:nvPr/>
        </p:nvSpPr>
        <p:spPr>
          <a:xfrm>
            <a:off x="-448295" y="211261"/>
            <a:ext cx="88566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chemeClr val="bg1"/>
                </a:solidFill>
              </a:rPr>
              <a:t>Understanding</a:t>
            </a:r>
            <a:r>
              <a:rPr lang="it-IT" sz="4000" b="1" dirty="0" smtClean="0">
                <a:solidFill>
                  <a:schemeClr val="bg1"/>
                </a:solidFill>
              </a:rPr>
              <a:t> SAR Technology</a:t>
            </a:r>
          </a:p>
          <a:p>
            <a:pPr algn="ctr"/>
            <a:r>
              <a:rPr lang="it-IT" sz="2400" b="1" dirty="0" err="1" smtClean="0">
                <a:solidFill>
                  <a:schemeClr val="bg1"/>
                </a:solidFill>
              </a:rPr>
              <a:t>Exploring</a:t>
            </a:r>
            <a:r>
              <a:rPr lang="it-IT" sz="2400" b="1" dirty="0" smtClean="0">
                <a:solidFill>
                  <a:schemeClr val="bg1"/>
                </a:solidFill>
              </a:rPr>
              <a:t> the </a:t>
            </a:r>
            <a:r>
              <a:rPr lang="it-IT" sz="2400" b="1" dirty="0" err="1" smtClean="0">
                <a:solidFill>
                  <a:schemeClr val="bg1"/>
                </a:solidFill>
              </a:rPr>
              <a:t>role</a:t>
            </a:r>
            <a:r>
              <a:rPr lang="it-IT" sz="2400" b="1" dirty="0" smtClean="0">
                <a:solidFill>
                  <a:schemeClr val="bg1"/>
                </a:solidFill>
              </a:rPr>
              <a:t> of </a:t>
            </a:r>
            <a:r>
              <a:rPr lang="it-IT" sz="2400" b="1" dirty="0" err="1" smtClean="0">
                <a:solidFill>
                  <a:schemeClr val="bg1"/>
                </a:solidFill>
              </a:rPr>
              <a:t>Synthetic</a:t>
            </a:r>
            <a:r>
              <a:rPr lang="it-IT" sz="2400" b="1" dirty="0" smtClean="0">
                <a:solidFill>
                  <a:schemeClr val="bg1"/>
                </a:solidFill>
              </a:rPr>
              <a:t> Aperture Radar in Maritime </a:t>
            </a:r>
            <a:r>
              <a:rPr lang="it-IT" sz="2400" b="1" dirty="0" err="1" smtClean="0">
                <a:solidFill>
                  <a:schemeClr val="bg1"/>
                </a:solidFill>
              </a:rPr>
              <a:t>Surveillance</a:t>
            </a:r>
            <a:endParaRPr lang="it-IT" sz="2400" b="1" dirty="0">
              <a:solidFill>
                <a:schemeClr val="bg1"/>
              </a:solidFill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55602" y="3753594"/>
            <a:ext cx="2619633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it-IT" sz="2000" b="1" dirty="0" smtClean="0"/>
              <a:t>Definition of SAR </a:t>
            </a:r>
          </a:p>
          <a:p>
            <a:r>
              <a:rPr lang="en-US" sz="2000" b="1" dirty="0" smtClean="0"/>
              <a:t>Synthetic </a:t>
            </a:r>
            <a:r>
              <a:rPr lang="en-US" sz="2000" b="1" dirty="0"/>
              <a:t>Aperture </a:t>
            </a:r>
            <a:r>
              <a:rPr lang="en-US" b="1" dirty="0" smtClean="0"/>
              <a:t>Radar</a:t>
            </a:r>
          </a:p>
          <a:p>
            <a:endParaRPr lang="en-US" b="1" dirty="0" smtClean="0"/>
          </a:p>
          <a:p>
            <a:endParaRPr lang="en-US" dirty="0" smtClean="0"/>
          </a:p>
          <a:p>
            <a:r>
              <a:rPr lang="en-US" dirty="0" smtClean="0"/>
              <a:t>SAR</a:t>
            </a:r>
            <a:r>
              <a:rPr lang="en-US" b="1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a remote sensing method used to create images of objects on the ground, including vessels at sea.</a:t>
            </a:r>
          </a:p>
          <a:p>
            <a:pPr marL="342900" indent="-342900">
              <a:buAutoNum type="arabicParenR"/>
            </a:pP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2612573" y="3836341"/>
            <a:ext cx="237249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2) </a:t>
            </a:r>
            <a:r>
              <a:rPr lang="it-IT" sz="2000" b="1" dirty="0" smtClean="0"/>
              <a:t>Vessel </a:t>
            </a:r>
            <a:r>
              <a:rPr lang="it-IT" sz="2000" b="1" dirty="0" err="1" smtClean="0"/>
              <a:t>Detection</a:t>
            </a:r>
            <a:endParaRPr lang="it-IT" sz="2000" b="1" dirty="0" smtClean="0"/>
          </a:p>
          <a:p>
            <a:endParaRPr lang="it-IT" sz="2000" b="1" dirty="0" smtClean="0"/>
          </a:p>
          <a:p>
            <a:endParaRPr lang="en-US" dirty="0" smtClean="0"/>
          </a:p>
          <a:p>
            <a:r>
              <a:rPr lang="en-US" dirty="0" smtClean="0"/>
              <a:t>SAR </a:t>
            </a:r>
            <a:r>
              <a:rPr lang="en-US" dirty="0"/>
              <a:t>technology effectively detects and monitors vessels, making it essential for maritime operations and surveillance.</a:t>
            </a:r>
          </a:p>
          <a:p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187399" y="3849335"/>
            <a:ext cx="22303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3) High-</a:t>
            </a:r>
            <a:r>
              <a:rPr lang="it-IT" b="1" dirty="0" err="1" smtClean="0"/>
              <a:t>Resolution</a:t>
            </a:r>
            <a:r>
              <a:rPr lang="it-IT" b="1" dirty="0" smtClean="0"/>
              <a:t> </a:t>
            </a:r>
            <a:r>
              <a:rPr lang="it-IT" b="1" dirty="0" err="1" smtClean="0"/>
              <a:t>Imagery</a:t>
            </a:r>
            <a:endParaRPr lang="it-IT" b="1" dirty="0" smtClean="0"/>
          </a:p>
          <a:p>
            <a:endParaRPr lang="it-IT" b="1" dirty="0" smtClean="0"/>
          </a:p>
          <a:p>
            <a:endParaRPr lang="en-US" dirty="0" smtClean="0"/>
          </a:p>
          <a:p>
            <a:r>
              <a:rPr lang="en-US" dirty="0" smtClean="0"/>
              <a:t>SAR </a:t>
            </a:r>
            <a:r>
              <a:rPr lang="en-US" dirty="0"/>
              <a:t>provides detailed images regardless of weather conditions, ensuring reliable and accurate monitoring day and night.</a:t>
            </a:r>
          </a:p>
          <a:p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7563641" y="3834625"/>
            <a:ext cx="236631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4) </a:t>
            </a:r>
            <a:r>
              <a:rPr lang="it-IT" sz="2000" b="1" dirty="0" smtClean="0"/>
              <a:t>Radar </a:t>
            </a:r>
            <a:r>
              <a:rPr lang="it-IT" sz="2000" b="1" dirty="0" err="1"/>
              <a:t>Reflection</a:t>
            </a:r>
            <a:r>
              <a:rPr lang="it-IT" sz="2000" b="1" dirty="0"/>
              <a:t> </a:t>
            </a:r>
            <a:r>
              <a:rPr lang="it-IT" sz="2000" b="1" dirty="0" smtClean="0"/>
              <a:t>Analysis</a:t>
            </a:r>
          </a:p>
          <a:p>
            <a:endParaRPr lang="it-IT" sz="2000" b="1" dirty="0" smtClean="0"/>
          </a:p>
          <a:p>
            <a:endParaRPr lang="en-US" dirty="0" smtClean="0"/>
          </a:p>
          <a:p>
            <a:r>
              <a:rPr lang="en-US" dirty="0" smtClean="0"/>
              <a:t>Analysis </a:t>
            </a:r>
            <a:r>
              <a:rPr lang="en-US" dirty="0"/>
              <a:t>of radar reflections from ship structures enables precise identification and tracking of various vessels.</a:t>
            </a:r>
          </a:p>
          <a:p>
            <a:endParaRPr lang="it-IT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10128066" y="3696125"/>
            <a:ext cx="197708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5) </a:t>
            </a:r>
            <a:r>
              <a:rPr lang="it-IT" sz="2000" b="1" dirty="0" smtClean="0"/>
              <a:t>Applications </a:t>
            </a:r>
            <a:r>
              <a:rPr lang="it-IT" sz="2000" b="1" dirty="0"/>
              <a:t>in </a:t>
            </a:r>
            <a:r>
              <a:rPr lang="it-IT" sz="2000" b="1" dirty="0" err="1" smtClean="0"/>
              <a:t>Surveillance</a:t>
            </a:r>
            <a:endParaRPr lang="it-IT" sz="2000" b="1" dirty="0" smtClean="0"/>
          </a:p>
          <a:p>
            <a:endParaRPr lang="it-IT" sz="2000" b="1" dirty="0" smtClean="0"/>
          </a:p>
          <a:p>
            <a:endParaRPr lang="en-US" dirty="0" smtClean="0"/>
          </a:p>
          <a:p>
            <a:r>
              <a:rPr lang="en-US" dirty="0" smtClean="0"/>
              <a:t>Crucial </a:t>
            </a:r>
            <a:r>
              <a:rPr lang="en-US" dirty="0"/>
              <a:t>for detecting illegal fishing and other maritime activities, SAR enhances security in dense environments.</a:t>
            </a:r>
          </a:p>
          <a:p>
            <a:endParaRPr lang="it-IT" dirty="0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31" y="1985942"/>
            <a:ext cx="1643289" cy="1643289"/>
          </a:xfrm>
          <a:prstGeom prst="rect">
            <a:avLst/>
          </a:prstGeom>
        </p:spPr>
      </p:pic>
      <p:pic>
        <p:nvPicPr>
          <p:cNvPr id="10" name="Immagin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629" y="1914010"/>
            <a:ext cx="1880958" cy="1880958"/>
          </a:xfrm>
          <a:prstGeom prst="rect">
            <a:avLst/>
          </a:prstGeom>
        </p:spPr>
      </p:pic>
      <p:pic>
        <p:nvPicPr>
          <p:cNvPr id="11" name="Immagin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708" y="1978413"/>
            <a:ext cx="1885542" cy="1865901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884" y="2085744"/>
            <a:ext cx="1687024" cy="1651238"/>
          </a:xfrm>
          <a:prstGeom prst="rect">
            <a:avLst/>
          </a:prstGeom>
        </p:spPr>
      </p:pic>
      <p:sp>
        <p:nvSpPr>
          <p:cNvPr id="14" name="Freccia circolare in giù 13"/>
          <p:cNvSpPr/>
          <p:nvPr/>
        </p:nvSpPr>
        <p:spPr>
          <a:xfrm>
            <a:off x="1820008" y="1914010"/>
            <a:ext cx="1072661" cy="38957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5" name="Freccia circolare in su 14"/>
          <p:cNvSpPr/>
          <p:nvPr/>
        </p:nvSpPr>
        <p:spPr>
          <a:xfrm>
            <a:off x="4334609" y="3429000"/>
            <a:ext cx="963836" cy="259437"/>
          </a:xfrm>
          <a:prstGeom prst="curvedUpArrow">
            <a:avLst>
              <a:gd name="adj1" fmla="val 25000"/>
              <a:gd name="adj2" fmla="val 79253"/>
              <a:gd name="adj3" fmla="val 312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6" name="Freccia circolare in giù 15"/>
          <p:cNvSpPr/>
          <p:nvPr/>
        </p:nvSpPr>
        <p:spPr>
          <a:xfrm>
            <a:off x="6830329" y="1951893"/>
            <a:ext cx="1213338" cy="35169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7" name="Freccia circolare in su 16"/>
          <p:cNvSpPr/>
          <p:nvPr/>
        </p:nvSpPr>
        <p:spPr>
          <a:xfrm>
            <a:off x="9400265" y="3332285"/>
            <a:ext cx="1009827" cy="22643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8" name="Freccia in giù 17"/>
          <p:cNvSpPr/>
          <p:nvPr/>
        </p:nvSpPr>
        <p:spPr>
          <a:xfrm>
            <a:off x="1037492" y="4457700"/>
            <a:ext cx="131885" cy="7561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in giù 18"/>
          <p:cNvSpPr/>
          <p:nvPr/>
        </p:nvSpPr>
        <p:spPr>
          <a:xfrm>
            <a:off x="3420821" y="4174559"/>
            <a:ext cx="131271" cy="6260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in giù 19"/>
          <p:cNvSpPr/>
          <p:nvPr/>
        </p:nvSpPr>
        <p:spPr>
          <a:xfrm>
            <a:off x="5957977" y="4510454"/>
            <a:ext cx="106280" cy="5187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in giù 20"/>
          <p:cNvSpPr/>
          <p:nvPr/>
        </p:nvSpPr>
        <p:spPr>
          <a:xfrm>
            <a:off x="8408377" y="4457700"/>
            <a:ext cx="111369" cy="6770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in giù 21"/>
          <p:cNvSpPr/>
          <p:nvPr/>
        </p:nvSpPr>
        <p:spPr>
          <a:xfrm>
            <a:off x="10642810" y="4378570"/>
            <a:ext cx="131885" cy="5890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4" name="Immagine 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365" y="90435"/>
            <a:ext cx="3733800" cy="119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128"/>
            <a:ext cx="12192000" cy="6210300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315" y="89965"/>
            <a:ext cx="3733800" cy="1191670"/>
          </a:xfrm>
          <a:prstGeom prst="rect">
            <a:avLst/>
          </a:prstGeom>
        </p:spPr>
      </p:pic>
      <p:sp>
        <p:nvSpPr>
          <p:cNvPr id="5" name="Rettangolo 4"/>
          <p:cNvSpPr/>
          <p:nvPr/>
        </p:nvSpPr>
        <p:spPr>
          <a:xfrm>
            <a:off x="8543925" y="1466850"/>
            <a:ext cx="3248025" cy="81915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/>
          <p:cNvSpPr/>
          <p:nvPr/>
        </p:nvSpPr>
        <p:spPr>
          <a:xfrm>
            <a:off x="8591549" y="2185465"/>
            <a:ext cx="3152775" cy="4495277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/>
          <p:cNvSpPr/>
          <p:nvPr/>
        </p:nvSpPr>
        <p:spPr>
          <a:xfrm>
            <a:off x="431556" y="2485788"/>
            <a:ext cx="3152775" cy="2578581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/>
          <p:cNvSpPr txBox="1"/>
          <p:nvPr/>
        </p:nvSpPr>
        <p:spPr>
          <a:xfrm>
            <a:off x="-312747" y="-57917"/>
            <a:ext cx="88566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chemeClr val="bg1"/>
                </a:solidFill>
              </a:rPr>
              <a:t>Understanding</a:t>
            </a:r>
            <a:r>
              <a:rPr lang="it-IT" sz="4000" b="1" dirty="0" smtClean="0">
                <a:solidFill>
                  <a:schemeClr val="bg1"/>
                </a:solidFill>
              </a:rPr>
              <a:t> SAR Technology</a:t>
            </a:r>
          </a:p>
          <a:p>
            <a:pPr algn="ctr"/>
            <a:r>
              <a:rPr lang="it-IT" sz="2400" b="1" dirty="0" err="1" smtClean="0">
                <a:solidFill>
                  <a:schemeClr val="bg1"/>
                </a:solidFill>
              </a:rPr>
              <a:t>Exploring</a:t>
            </a:r>
            <a:r>
              <a:rPr lang="it-IT" sz="2400" b="1" dirty="0" smtClean="0">
                <a:solidFill>
                  <a:schemeClr val="bg1"/>
                </a:solidFill>
              </a:rPr>
              <a:t> the </a:t>
            </a:r>
            <a:r>
              <a:rPr lang="it-IT" sz="2400" b="1" dirty="0" err="1" smtClean="0">
                <a:solidFill>
                  <a:schemeClr val="bg1"/>
                </a:solidFill>
              </a:rPr>
              <a:t>role</a:t>
            </a:r>
            <a:r>
              <a:rPr lang="it-IT" sz="2400" b="1" dirty="0" smtClean="0">
                <a:solidFill>
                  <a:schemeClr val="bg1"/>
                </a:solidFill>
              </a:rPr>
              <a:t> of </a:t>
            </a:r>
            <a:r>
              <a:rPr lang="it-IT" sz="2400" b="1" dirty="0" err="1" smtClean="0">
                <a:solidFill>
                  <a:schemeClr val="bg1"/>
                </a:solidFill>
              </a:rPr>
              <a:t>Synthetic</a:t>
            </a:r>
            <a:r>
              <a:rPr lang="it-IT" sz="2400" b="1" dirty="0" smtClean="0">
                <a:solidFill>
                  <a:schemeClr val="bg1"/>
                </a:solidFill>
              </a:rPr>
              <a:t> Aperture Radar in Maritime </a:t>
            </a:r>
            <a:r>
              <a:rPr lang="it-IT" sz="2400" b="1" dirty="0" err="1" smtClean="0">
                <a:solidFill>
                  <a:schemeClr val="bg1"/>
                </a:solidFill>
              </a:rPr>
              <a:t>Surveillance</a:t>
            </a:r>
            <a:endParaRPr lang="it-IT" sz="2400" b="1" dirty="0">
              <a:solidFill>
                <a:schemeClr val="bg1"/>
              </a:solidFill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342721" y="1782663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it-IT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Benefits of SAR </a:t>
            </a:r>
            <a:r>
              <a:rPr lang="it-IT" sz="2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Ship</a:t>
            </a:r>
            <a:r>
              <a:rPr lang="it-IT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it-IT" sz="28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28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Exploring the Advantages of Synthetic Aperture Radar in Maritime Surveillance</a:t>
            </a:r>
            <a:endParaRPr lang="it-IT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8647930" y="1461565"/>
            <a:ext cx="359169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it-IT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-aperture Radar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 technology captures detailed images, improving detection accuracy for vessels.</a:t>
            </a:r>
          </a:p>
          <a:p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8647930" y="2714367"/>
            <a:ext cx="354407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All-Weather</a:t>
            </a:r>
            <a:r>
              <a:rPr lang="it-IT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  <a:endParaRPr lang="it-IT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effectively regardless of weather conditions, ensuring reliable monitoring.</a:t>
            </a:r>
          </a:p>
          <a:p>
            <a:endParaRPr lang="it-IT" dirty="0"/>
          </a:p>
        </p:txBody>
      </p:sp>
      <p:sp>
        <p:nvSpPr>
          <p:cNvPr id="16" name="CasellaDiTesto 15"/>
          <p:cNvSpPr txBox="1"/>
          <p:nvPr/>
        </p:nvSpPr>
        <p:spPr>
          <a:xfrm>
            <a:off x="8647927" y="4033601"/>
            <a:ext cx="35916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it-IT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endParaRPr lang="it-IT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for real-time surveillance, facilitating swift responses to illegal activities.</a:t>
            </a:r>
          </a:p>
          <a:p>
            <a:endParaRPr lang="it-IT" dirty="0"/>
          </a:p>
        </p:txBody>
      </p:sp>
      <p:sp>
        <p:nvSpPr>
          <p:cNvPr id="17" name="CasellaDiTesto 16"/>
          <p:cNvSpPr txBox="1"/>
          <p:nvPr/>
        </p:nvSpPr>
        <p:spPr>
          <a:xfrm>
            <a:off x="8624116" y="5438656"/>
            <a:ext cx="359169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Cost-Effective</a:t>
            </a:r>
            <a:r>
              <a:rPr lang="it-IT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a budget-friendly option for monitoring extensive maritime areas efficiently.</a:t>
            </a:r>
          </a:p>
          <a:p>
            <a:endParaRPr lang="it-IT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0" y="5210272"/>
            <a:ext cx="827099" cy="824984"/>
          </a:xfrm>
          <a:prstGeom prst="rect">
            <a:avLst/>
          </a:prstGeom>
        </p:spPr>
      </p:pic>
      <p:sp>
        <p:nvSpPr>
          <p:cNvPr id="18" name="CasellaDiTesto 17"/>
          <p:cNvSpPr txBox="1"/>
          <p:nvPr/>
        </p:nvSpPr>
        <p:spPr>
          <a:xfrm>
            <a:off x="1157969" y="5145765"/>
            <a:ext cx="34751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it-IT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IUU </a:t>
            </a:r>
            <a:r>
              <a:rPr lang="it-IT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Fishing</a:t>
            </a: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 can detect vessels involved in illegal fishing 24/7, even in poor weather or darkness.</a:t>
            </a:r>
            <a:endParaRPr lang="it-I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53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/>
        </p:nvSpPr>
        <p:spPr>
          <a:xfrm>
            <a:off x="0" y="0"/>
            <a:ext cx="12192000" cy="1771650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870" y="1981675"/>
            <a:ext cx="2726761" cy="25602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asellaDiTesto 2"/>
          <p:cNvSpPr txBox="1"/>
          <p:nvPr/>
        </p:nvSpPr>
        <p:spPr>
          <a:xfrm>
            <a:off x="742307" y="122318"/>
            <a:ext cx="860671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err="1">
                <a:solidFill>
                  <a:schemeClr val="bg1"/>
                </a:solidFill>
              </a:rPr>
              <a:t>Understanding</a:t>
            </a:r>
            <a:r>
              <a:rPr lang="it-IT" sz="4000" b="1" dirty="0">
                <a:solidFill>
                  <a:schemeClr val="bg1"/>
                </a:solidFill>
              </a:rPr>
              <a:t> SAR </a:t>
            </a:r>
            <a:r>
              <a:rPr lang="it-IT" sz="4000" b="1" dirty="0" smtClean="0">
                <a:solidFill>
                  <a:schemeClr val="bg1"/>
                </a:solidFill>
              </a:rPr>
              <a:t>Technology</a:t>
            </a:r>
          </a:p>
          <a:p>
            <a:r>
              <a:rPr lang="it-IT" sz="2800" b="1" dirty="0" smtClean="0">
                <a:solidFill>
                  <a:schemeClr val="bg1"/>
                </a:solidFill>
              </a:rPr>
              <a:t>State of Art</a:t>
            </a:r>
            <a:endParaRPr lang="it-IT" sz="2800" b="1" dirty="0">
              <a:solidFill>
                <a:schemeClr val="bg1"/>
              </a:solidFill>
            </a:endParaRPr>
          </a:p>
        </p:txBody>
      </p:sp>
      <p:sp>
        <p:nvSpPr>
          <p:cNvPr id="4" name="CasellaDiTesto 3"/>
          <p:cNvSpPr txBox="1"/>
          <p:nvPr/>
        </p:nvSpPr>
        <p:spPr>
          <a:xfrm rot="10800000" flipV="1">
            <a:off x="1070806" y="4541951"/>
            <a:ext cx="40865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Traditional</a:t>
            </a:r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6594837" y="4525854"/>
            <a:ext cx="5675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Learning </a:t>
            </a:r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1257265" y="5878713"/>
            <a:ext cx="3645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 smtClean="0"/>
              <a:t>Affected</a:t>
            </a:r>
            <a:r>
              <a:rPr lang="it-IT" sz="2400" dirty="0" smtClean="0"/>
              <a:t> by a </a:t>
            </a:r>
            <a:r>
              <a:rPr lang="it-IT" sz="2400" dirty="0" err="1" smtClean="0"/>
              <a:t>series</a:t>
            </a:r>
            <a:r>
              <a:rPr lang="it-IT" sz="2400" dirty="0" smtClean="0"/>
              <a:t> of </a:t>
            </a:r>
            <a:r>
              <a:rPr lang="it-IT" sz="2400" dirty="0" err="1" smtClean="0"/>
              <a:t>limitations</a:t>
            </a:r>
            <a:endParaRPr lang="it-IT" sz="2400" dirty="0"/>
          </a:p>
        </p:txBody>
      </p:sp>
      <p:sp>
        <p:nvSpPr>
          <p:cNvPr id="10" name="CasellaDiTesto 9"/>
          <p:cNvSpPr txBox="1"/>
          <p:nvPr/>
        </p:nvSpPr>
        <p:spPr>
          <a:xfrm>
            <a:off x="7023111" y="5614809"/>
            <a:ext cx="17913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stage detectors</a:t>
            </a:r>
          </a:p>
          <a:p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(YOLO)</a:t>
            </a:r>
          </a:p>
          <a:p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ccia a destra 11"/>
          <p:cNvSpPr/>
          <p:nvPr/>
        </p:nvSpPr>
        <p:spPr>
          <a:xfrm rot="7303042">
            <a:off x="7498589" y="5286744"/>
            <a:ext cx="704560" cy="134647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/>
          <p:cNvSpPr txBox="1"/>
          <p:nvPr/>
        </p:nvSpPr>
        <p:spPr>
          <a:xfrm>
            <a:off x="10048532" y="6238603"/>
            <a:ext cx="19029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(RCNN)</a:t>
            </a:r>
            <a:endParaRPr lang="it-IT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nettore 2 14"/>
          <p:cNvCxnSpPr/>
          <p:nvPr/>
        </p:nvCxnSpPr>
        <p:spPr>
          <a:xfrm flipV="1">
            <a:off x="2566641" y="5495882"/>
            <a:ext cx="0" cy="4016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9831977" y="5614809"/>
            <a:ext cx="1573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stage detectors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ccia a destra 15"/>
          <p:cNvSpPr/>
          <p:nvPr/>
        </p:nvSpPr>
        <p:spPr>
          <a:xfrm rot="3294048">
            <a:off x="9967711" y="5278613"/>
            <a:ext cx="704560" cy="134647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5" y="1993202"/>
            <a:ext cx="3524431" cy="25604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8" name="Connettore diritto 17"/>
          <p:cNvCxnSpPr/>
          <p:nvPr/>
        </p:nvCxnSpPr>
        <p:spPr>
          <a:xfrm>
            <a:off x="5994909" y="1785470"/>
            <a:ext cx="44295" cy="5072530"/>
          </a:xfrm>
          <a:prstGeom prst="line">
            <a:avLst/>
          </a:prstGeom>
          <a:ln w="666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697" y="108498"/>
            <a:ext cx="3733800" cy="119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6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-120605"/>
            <a:ext cx="12192000" cy="1800225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525" y="183672"/>
            <a:ext cx="3733800" cy="1191670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28675" y="323850"/>
            <a:ext cx="7086600" cy="830997"/>
          </a:xfrm>
          <a:prstGeom prst="rect">
            <a:avLst/>
          </a:prstGeom>
          <a:solidFill>
            <a:srgbClr val="C1092A"/>
          </a:solidFill>
        </p:spPr>
        <p:txBody>
          <a:bodyPr wrap="square" rtlCol="0">
            <a:spAutoFit/>
          </a:bodyPr>
          <a:lstStyle/>
          <a:p>
            <a:r>
              <a:rPr lang="it-IT" sz="4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Materials</a:t>
            </a:r>
            <a:r>
              <a:rPr lang="it-IT" sz="4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4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lang="it-IT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0" y="1679619"/>
            <a:ext cx="8648700" cy="5179117"/>
          </a:xfrm>
          <a:prstGeom prst="rect">
            <a:avLst/>
          </a:prstGeom>
        </p:spPr>
      </p:pic>
      <p:sp>
        <p:nvSpPr>
          <p:cNvPr id="13" name="Ritardo 12"/>
          <p:cNvSpPr/>
          <p:nvPr/>
        </p:nvSpPr>
        <p:spPr>
          <a:xfrm>
            <a:off x="23579" y="1699567"/>
            <a:ext cx="6962775" cy="5158433"/>
          </a:xfrm>
          <a:prstGeom prst="flowChartDelay">
            <a:avLst/>
          </a:prstGeom>
          <a:solidFill>
            <a:schemeClr val="bg1"/>
          </a:solidFill>
          <a:ln w="666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/>
          <p:cNvSpPr txBox="1"/>
          <p:nvPr/>
        </p:nvSpPr>
        <p:spPr>
          <a:xfrm>
            <a:off x="3387604" y="2989127"/>
            <a:ext cx="3409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2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it-IT" sz="32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it-IT" sz="32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2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Architectures</a:t>
            </a:r>
            <a:endParaRPr lang="it-IT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59" y="4700330"/>
            <a:ext cx="2768728" cy="2016127"/>
          </a:xfrm>
          <a:prstGeom prst="rect">
            <a:avLst/>
          </a:prstGeom>
        </p:spPr>
      </p:pic>
      <p:pic>
        <p:nvPicPr>
          <p:cNvPr id="17" name="Immagin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27" y="1840511"/>
            <a:ext cx="2992835" cy="285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9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/>
          <p:cNvSpPr/>
          <p:nvPr/>
        </p:nvSpPr>
        <p:spPr>
          <a:xfrm>
            <a:off x="0" y="1"/>
            <a:ext cx="12192000" cy="1924050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/>
          <p:cNvSpPr txBox="1"/>
          <p:nvPr/>
        </p:nvSpPr>
        <p:spPr>
          <a:xfrm>
            <a:off x="187272" y="423417"/>
            <a:ext cx="7934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 Dataset of Ship Detection for Deep Learning under Complex Backgrounds</a:t>
            </a:r>
            <a:endParaRPr lang="it-IT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187273" y="2157332"/>
            <a:ext cx="76994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Object </a:t>
            </a:r>
            <a:r>
              <a:rPr lang="en-US" sz="2400" dirty="0"/>
              <a:t>detectors </a:t>
            </a:r>
            <a:r>
              <a:rPr lang="en-US" sz="2400" dirty="0" err="1"/>
              <a:t>archieve</a:t>
            </a:r>
            <a:r>
              <a:rPr lang="en-US" sz="2400" dirty="0"/>
              <a:t> higher mean average precision on it and have higher generalization </a:t>
            </a:r>
            <a:r>
              <a:rPr lang="en-US" sz="2400" dirty="0" smtClean="0"/>
              <a:t>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102 Chinese Gaofen-3 </a:t>
            </a:r>
            <a:r>
              <a:rPr lang="en-US" sz="2400" b="1" dirty="0"/>
              <a:t>images and 108 </a:t>
            </a:r>
            <a:r>
              <a:rPr lang="en-US" sz="2400" b="1" dirty="0" smtClean="0"/>
              <a:t>Sentinel-1 </a:t>
            </a:r>
            <a:r>
              <a:rPr lang="en-US" sz="2400" b="1" dirty="0"/>
              <a:t>images</a:t>
            </a:r>
            <a:r>
              <a:rPr lang="en-US" sz="2400" dirty="0"/>
              <a:t>, </a:t>
            </a:r>
            <a:r>
              <a:rPr lang="en-US" sz="2400" dirty="0" smtClean="0"/>
              <a:t>43.819 </a:t>
            </a:r>
            <a:r>
              <a:rPr lang="en-US" sz="2400" dirty="0"/>
              <a:t>ship </a:t>
            </a:r>
            <a:r>
              <a:rPr lang="en-US" sz="2400" dirty="0" smtClean="0"/>
              <a:t>chips in total.</a:t>
            </a:r>
            <a:endParaRPr lang="it-IT" sz="24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72" y="4329606"/>
            <a:ext cx="7816957" cy="2424511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621" y="2819399"/>
            <a:ext cx="1543491" cy="15434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366191"/>
            <a:ext cx="3733800" cy="1191670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207" y="2077454"/>
            <a:ext cx="2114596" cy="37005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CasellaDiTesto 9"/>
          <p:cNvSpPr txBox="1"/>
          <p:nvPr/>
        </p:nvSpPr>
        <p:spPr>
          <a:xfrm>
            <a:off x="11272803" y="2972175"/>
            <a:ext cx="1504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solidFill>
                  <a:srgbClr val="FF0000"/>
                </a:solidFill>
              </a:rPr>
              <a:t>70%</a:t>
            </a:r>
          </a:p>
          <a:p>
            <a:r>
              <a:rPr lang="it-IT" sz="2400" b="1" dirty="0" smtClean="0">
                <a:solidFill>
                  <a:srgbClr val="FF0000"/>
                </a:solidFill>
              </a:rPr>
              <a:t>15%</a:t>
            </a:r>
          </a:p>
          <a:p>
            <a:r>
              <a:rPr lang="it-IT" sz="2400" b="1" dirty="0" smtClean="0">
                <a:solidFill>
                  <a:srgbClr val="FF0000"/>
                </a:solidFill>
              </a:rPr>
              <a:t>15%</a:t>
            </a:r>
            <a:endParaRPr lang="it-IT" sz="2400" b="1" dirty="0">
              <a:solidFill>
                <a:srgbClr val="FF0000"/>
              </a:solidFill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8305800" y="5931403"/>
            <a:ext cx="381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Balance and </a:t>
            </a:r>
            <a:r>
              <a:rPr lang="it-IT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images and </a:t>
            </a:r>
            <a:r>
              <a:rPr lang="it-IT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labels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nettore 4 17"/>
          <p:cNvCxnSpPr/>
          <p:nvPr/>
        </p:nvCxnSpPr>
        <p:spPr>
          <a:xfrm rot="5400000">
            <a:off x="7530849" y="4022976"/>
            <a:ext cx="3112003" cy="704850"/>
          </a:xfrm>
          <a:prstGeom prst="bentConnector3">
            <a:avLst>
              <a:gd name="adj1" fmla="val 722"/>
            </a:avLst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4 22"/>
          <p:cNvCxnSpPr/>
          <p:nvPr/>
        </p:nvCxnSpPr>
        <p:spPr>
          <a:xfrm rot="5400000">
            <a:off x="8462164" y="4954290"/>
            <a:ext cx="1601801" cy="352427"/>
          </a:xfrm>
          <a:prstGeom prst="bentConnector3">
            <a:avLst>
              <a:gd name="adj1" fmla="val -1139"/>
            </a:avLst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7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878" y="1613046"/>
            <a:ext cx="4944940" cy="3359170"/>
          </a:xfrm>
          <a:prstGeom prst="rect">
            <a:avLst/>
          </a:prstGeom>
        </p:spPr>
      </p:pic>
      <p:sp>
        <p:nvSpPr>
          <p:cNvPr id="8" name="Rettangolo 7"/>
          <p:cNvSpPr/>
          <p:nvPr/>
        </p:nvSpPr>
        <p:spPr>
          <a:xfrm>
            <a:off x="0" y="0"/>
            <a:ext cx="12192000" cy="1534217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/>
          <p:cNvSpPr txBox="1"/>
          <p:nvPr/>
        </p:nvSpPr>
        <p:spPr>
          <a:xfrm>
            <a:off x="304799" y="225645"/>
            <a:ext cx="7934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 Dataset of Ship Detection for Deep Learning under Complex Backgrounds</a:t>
            </a:r>
            <a:endParaRPr lang="it-IT" sz="32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161924" y="1528507"/>
            <a:ext cx="4943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161924" y="2051727"/>
            <a:ext cx="5605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ships have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distinct scales and backgrounds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they vary in terms of polarization, resolution, incidence angle, imaging mode, and background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5899638" y="5167758"/>
            <a:ext cx="60110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Ships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appear as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bright pixels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mainly due to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double reflection of pulses emitted by the sensor.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incidence angle influences the geometry of the ships, producing foreshortening, layover, and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shadowing.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662" y="168419"/>
            <a:ext cx="3733800" cy="1191670"/>
          </a:xfrm>
          <a:prstGeom prst="rect">
            <a:avLst/>
          </a:prstGeom>
        </p:spPr>
      </p:pic>
      <p:pic>
        <p:nvPicPr>
          <p:cNvPr id="10" name="Immagin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43" y="3266255"/>
            <a:ext cx="5134306" cy="338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9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12287250" cy="1594718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/>
          <p:cNvSpPr txBox="1"/>
          <p:nvPr/>
        </p:nvSpPr>
        <p:spPr>
          <a:xfrm>
            <a:off x="724635" y="258750"/>
            <a:ext cx="7934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 Dataset of Ship Detection for Deep Learning under Complex Backgrounds</a:t>
            </a:r>
            <a:endParaRPr lang="it-IT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648435" y="1853468"/>
            <a:ext cx="3923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Labeling</a:t>
            </a:r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Procedure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654" y="2503282"/>
            <a:ext cx="9028007" cy="2420546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491781" y="5052191"/>
            <a:ext cx="2238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it-IT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SAR images are </a:t>
            </a:r>
            <a:r>
              <a:rPr lang="it-IT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converted</a:t>
            </a:r>
            <a:r>
              <a:rPr lang="it-IT" dirty="0" smtClean="0">
                <a:latin typeface="Arial" panose="020B0604020202020204" pitchFamily="34" charset="0"/>
                <a:cs typeface="Arial" panose="020B0604020202020204" pitchFamily="34" charset="0"/>
              </a:rPr>
              <a:t> to sigma0 </a:t>
            </a:r>
            <a:r>
              <a:rPr lang="it-IT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3523166" y="4775192"/>
            <a:ext cx="2562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2. Candidate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subimages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containing ships with sizes greater than 800 pixels are cropped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6801575" y="4636693"/>
            <a:ext cx="23526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3. Sliding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windows from these candidate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subimages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used to acquire ship images 256 x 256 pixels in size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9966075" y="4775192"/>
            <a:ext cx="1895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4. They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are labeled by SAR experts with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LabelImg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ccia a destra 11"/>
          <p:cNvSpPr/>
          <p:nvPr/>
        </p:nvSpPr>
        <p:spPr>
          <a:xfrm>
            <a:off x="2698756" y="5322024"/>
            <a:ext cx="630007" cy="296498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ccia a destra 12"/>
          <p:cNvSpPr/>
          <p:nvPr/>
        </p:nvSpPr>
        <p:spPr>
          <a:xfrm>
            <a:off x="6138132" y="5313941"/>
            <a:ext cx="610702" cy="307432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/>
          <p:cNvSpPr/>
          <p:nvPr/>
        </p:nvSpPr>
        <p:spPr>
          <a:xfrm>
            <a:off x="9206991" y="5313941"/>
            <a:ext cx="706343" cy="304581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695" y="201524"/>
            <a:ext cx="3733800" cy="119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3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tangolo 47"/>
          <p:cNvSpPr/>
          <p:nvPr/>
        </p:nvSpPr>
        <p:spPr>
          <a:xfrm>
            <a:off x="0" y="0"/>
            <a:ext cx="12192000" cy="1781425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/>
          <p:cNvSpPr txBox="1"/>
          <p:nvPr/>
        </p:nvSpPr>
        <p:spPr>
          <a:xfrm>
            <a:off x="2574957" y="1327008"/>
            <a:ext cx="4629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Multiscale</a:t>
            </a:r>
            <a:r>
              <a:rPr lang="it-IT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Ships</a:t>
            </a:r>
            <a:r>
              <a:rPr lang="it-IT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it-IT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714375" y="2092729"/>
            <a:ext cx="442546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PROBLEM</a:t>
            </a:r>
            <a:r>
              <a:rPr lang="en-US" sz="2800" dirty="0" smtClean="0"/>
              <a:t> 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Compared </a:t>
            </a:r>
            <a:r>
              <a:rPr lang="en-US" sz="2400" dirty="0"/>
              <a:t>with those objects in the optical dataset, the ship size is </a:t>
            </a:r>
            <a:r>
              <a:rPr lang="en-US" sz="2400" dirty="0" smtClean="0"/>
              <a:t>small, they </a:t>
            </a:r>
            <a:r>
              <a:rPr lang="en-US" sz="2400" dirty="0"/>
              <a:t>miss the </a:t>
            </a:r>
            <a:r>
              <a:rPr lang="en-US" sz="2400" dirty="0" smtClean="0"/>
              <a:t>     characteristics </a:t>
            </a:r>
            <a:r>
              <a:rPr lang="en-US" sz="2400" dirty="0"/>
              <a:t>of ships on the feature map, making it difficult to distinguish ships leading to false alarms.</a:t>
            </a:r>
            <a:endParaRPr lang="it-IT" sz="2400" dirty="0"/>
          </a:p>
          <a:p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7905823" y="2044592"/>
            <a:ext cx="3121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6051900" y="3223388"/>
            <a:ext cx="4786682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Land-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ocean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backgrounds</a:t>
            </a:r>
          </a:p>
          <a:p>
            <a:pPr marL="342900" indent="-342900">
              <a:buFont typeface="+mj-lt"/>
              <a:buAutoNum type="arabicPeriod"/>
            </a:pP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Relative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bounding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box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894" y="3223388"/>
            <a:ext cx="621354" cy="598405"/>
          </a:xfrm>
          <a:prstGeom prst="rect">
            <a:avLst/>
          </a:prstGeom>
        </p:spPr>
      </p:pic>
      <p:pic>
        <p:nvPicPr>
          <p:cNvPr id="22" name="Immagin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885" y="5048081"/>
            <a:ext cx="612243" cy="599886"/>
          </a:xfrm>
          <a:prstGeom prst="rect">
            <a:avLst/>
          </a:prstGeom>
        </p:spPr>
      </p:pic>
      <p:pic>
        <p:nvPicPr>
          <p:cNvPr id="23" name="Immagin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497" y="4021157"/>
            <a:ext cx="642216" cy="604357"/>
          </a:xfrm>
          <a:prstGeom prst="rect">
            <a:avLst/>
          </a:prstGeom>
        </p:spPr>
      </p:pic>
      <p:cxnSp>
        <p:nvCxnSpPr>
          <p:cNvPr id="36" name="Connettore diritto 35"/>
          <p:cNvCxnSpPr/>
          <p:nvPr/>
        </p:nvCxnSpPr>
        <p:spPr>
          <a:xfrm>
            <a:off x="5591908" y="1788673"/>
            <a:ext cx="8792" cy="5069327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/>
          <p:cNvSpPr txBox="1"/>
          <p:nvPr/>
        </p:nvSpPr>
        <p:spPr>
          <a:xfrm>
            <a:off x="426420" y="215354"/>
            <a:ext cx="7934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 Dataset of Ship Detection for Deep Learning under Complex Backgrounds</a:t>
            </a:r>
            <a:endParaRPr lang="it-IT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" name="Immagine 4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786" y="202108"/>
            <a:ext cx="3733800" cy="119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0" y="0"/>
            <a:ext cx="12192000" cy="1657350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/>
          <p:cNvSpPr txBox="1"/>
          <p:nvPr/>
        </p:nvSpPr>
        <p:spPr>
          <a:xfrm>
            <a:off x="628649" y="249584"/>
            <a:ext cx="7934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 Dataset of Ship Detection for Deep Learning under Complex Backgrounds</a:t>
            </a:r>
            <a:endParaRPr lang="it-IT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1504950" y="1738222"/>
            <a:ext cx="1034415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«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SAR Dataset of Ship Detection for Deep Learning under Complex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Backgrounds 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»  by </a:t>
            </a:r>
            <a:r>
              <a:rPr lang="it-IT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Wang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Zhang, </a:t>
            </a:r>
            <a:r>
              <a:rPr lang="it-IT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Wei</a:t>
            </a:r>
            <a:endParaRPr lang="it-IT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78" y="2514600"/>
            <a:ext cx="11160716" cy="2592785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1957386" y="5305425"/>
            <a:ext cx="902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models trained on these data can detect multiscale ships with low numbers of false positives under complex backgrounds.</a:t>
            </a: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955" y="249584"/>
            <a:ext cx="3576639" cy="1141511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6945923" y="4000500"/>
            <a:ext cx="3508131" cy="33410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433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0"/>
            <a:ext cx="12192000" cy="142586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584776"/>
            <a:ext cx="7086600" cy="6132548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121" y="514349"/>
            <a:ext cx="2546558" cy="812753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3762374" y="0"/>
            <a:ext cx="517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 </a:t>
            </a:r>
            <a:r>
              <a:rPr lang="it-IT" sz="32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it-IT" sz="32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2362200" y="584775"/>
            <a:ext cx="1647825" cy="6063675"/>
          </a:xfrm>
          <a:prstGeom prst="rect">
            <a:avLst/>
          </a:prstGeom>
          <a:noFill/>
          <a:ln w="698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7 11"/>
          <p:cNvCxnSpPr/>
          <p:nvPr/>
        </p:nvCxnSpPr>
        <p:spPr>
          <a:xfrm rot="5400000">
            <a:off x="1204913" y="2652713"/>
            <a:ext cx="1219200" cy="1095375"/>
          </a:xfrm>
          <a:prstGeom prst="curvedConnector3">
            <a:avLst/>
          </a:prstGeom>
          <a:ln w="539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147637" y="3843400"/>
            <a:ext cx="2238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lang="it-IT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4257675" y="2390775"/>
            <a:ext cx="3848100" cy="4396887"/>
          </a:xfrm>
          <a:prstGeom prst="rect">
            <a:avLst/>
          </a:prstGeom>
          <a:noFill/>
          <a:ln w="539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7 15"/>
          <p:cNvCxnSpPr/>
          <p:nvPr/>
        </p:nvCxnSpPr>
        <p:spPr>
          <a:xfrm flipV="1">
            <a:off x="8105775" y="3324225"/>
            <a:ext cx="1876425" cy="9525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/>
          <p:cNvSpPr txBox="1"/>
          <p:nvPr/>
        </p:nvSpPr>
        <p:spPr>
          <a:xfrm>
            <a:off x="10010775" y="3031837"/>
            <a:ext cx="2238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Neck</a:t>
            </a:r>
            <a:endParaRPr lang="it-IT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ttangolo 17"/>
          <p:cNvSpPr/>
          <p:nvPr/>
        </p:nvSpPr>
        <p:spPr>
          <a:xfrm>
            <a:off x="8524875" y="2476500"/>
            <a:ext cx="1162050" cy="431116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" name="Connettore 7 19"/>
          <p:cNvCxnSpPr>
            <a:stCxn id="18" idx="3"/>
          </p:cNvCxnSpPr>
          <p:nvPr/>
        </p:nvCxnSpPr>
        <p:spPr>
          <a:xfrm>
            <a:off x="9686925" y="4632081"/>
            <a:ext cx="885825" cy="930519"/>
          </a:xfrm>
          <a:prstGeom prst="curvedConnector2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/>
          <p:cNvSpPr txBox="1"/>
          <p:nvPr/>
        </p:nvSpPr>
        <p:spPr>
          <a:xfrm>
            <a:off x="10048875" y="5457888"/>
            <a:ext cx="2238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endParaRPr lang="it-IT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35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25" y="1490681"/>
            <a:ext cx="2163279" cy="4951239"/>
          </a:xfrm>
          <a:prstGeom prst="rect">
            <a:avLst/>
          </a:prstGeom>
        </p:spPr>
      </p:pic>
      <p:sp>
        <p:nvSpPr>
          <p:cNvPr id="5" name="Rettangolo 4"/>
          <p:cNvSpPr/>
          <p:nvPr/>
        </p:nvSpPr>
        <p:spPr>
          <a:xfrm>
            <a:off x="0" y="0"/>
            <a:ext cx="12192000" cy="1389185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787" y="211509"/>
            <a:ext cx="3027237" cy="966165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2680922" y="94426"/>
            <a:ext cx="6505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 </a:t>
            </a:r>
            <a:r>
              <a:rPr lang="it-IT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it-IT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3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endParaRPr lang="it-IT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tangolo arrotondato 7"/>
          <p:cNvSpPr/>
          <p:nvPr/>
        </p:nvSpPr>
        <p:spPr>
          <a:xfrm>
            <a:off x="2418255" y="1589667"/>
            <a:ext cx="1520699" cy="683138"/>
          </a:xfrm>
          <a:prstGeom prst="roundRect">
            <a:avLst/>
          </a:prstGeom>
          <a:solidFill>
            <a:srgbClr val="6D876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arrotondato 8"/>
          <p:cNvSpPr/>
          <p:nvPr/>
        </p:nvSpPr>
        <p:spPr>
          <a:xfrm>
            <a:off x="2418255" y="3657600"/>
            <a:ext cx="1520699" cy="736073"/>
          </a:xfrm>
          <a:prstGeom prst="roundRect">
            <a:avLst/>
          </a:prstGeom>
          <a:solidFill>
            <a:srgbClr val="6D876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arrotondato 9"/>
          <p:cNvSpPr/>
          <p:nvPr/>
        </p:nvSpPr>
        <p:spPr>
          <a:xfrm>
            <a:off x="2418254" y="5908431"/>
            <a:ext cx="1582245" cy="752599"/>
          </a:xfrm>
          <a:prstGeom prst="roundRect">
            <a:avLst/>
          </a:prstGeom>
          <a:solidFill>
            <a:srgbClr val="6D876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/>
          <p:cNvSpPr txBox="1"/>
          <p:nvPr/>
        </p:nvSpPr>
        <p:spPr>
          <a:xfrm>
            <a:off x="2572120" y="1650149"/>
            <a:ext cx="148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solidFill>
                  <a:schemeClr val="bg1"/>
                </a:solidFill>
              </a:rPr>
              <a:t>Detect</a:t>
            </a:r>
            <a:endParaRPr lang="it-IT" sz="2800" b="1" dirty="0">
              <a:solidFill>
                <a:schemeClr val="bg1"/>
              </a:solidFill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2514599" y="3733248"/>
            <a:ext cx="148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solidFill>
                  <a:schemeClr val="bg1"/>
                </a:solidFill>
              </a:rPr>
              <a:t>Detect</a:t>
            </a:r>
            <a:endParaRPr lang="it-IT" sz="2800" b="1" dirty="0">
              <a:solidFill>
                <a:schemeClr val="bg1"/>
              </a:solidFill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2680922" y="6023120"/>
            <a:ext cx="148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solidFill>
                  <a:schemeClr val="bg1"/>
                </a:solidFill>
              </a:rPr>
              <a:t>Detect</a:t>
            </a:r>
            <a:endParaRPr lang="it-IT" sz="2800" b="1" dirty="0">
              <a:solidFill>
                <a:schemeClr val="bg1"/>
              </a:solidFill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3945732" y="1503874"/>
            <a:ext cx="1604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Objects</a:t>
            </a:r>
            <a:endParaRPr lang="it-IT" sz="28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4017009" y="3548582"/>
            <a:ext cx="15494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 Objects</a:t>
            </a:r>
            <a:endParaRPr lang="it-IT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4099453" y="5724897"/>
            <a:ext cx="20246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Objects</a:t>
            </a:r>
            <a:endParaRPr lang="it-IT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256" y="3173789"/>
            <a:ext cx="417810" cy="1219884"/>
          </a:xfrm>
          <a:prstGeom prst="rect">
            <a:avLst/>
          </a:prstGeom>
        </p:spPr>
      </p:pic>
      <p:sp>
        <p:nvSpPr>
          <p:cNvPr id="18" name="CasellaDiTesto 17"/>
          <p:cNvSpPr txBox="1"/>
          <p:nvPr/>
        </p:nvSpPr>
        <p:spPr>
          <a:xfrm>
            <a:off x="6388362" y="1613494"/>
            <a:ext cx="4382407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Head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manages the final object detection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phase.</a:t>
            </a:r>
          </a:p>
          <a:p>
            <a:endParaRPr lang="en-US" dirty="0"/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YOLOv8’s Key feature: division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detect block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into three distinct paths, each specialized in detecting objects of different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sizes. </a:t>
            </a:r>
          </a:p>
          <a:p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path consists of multiple convolutional layers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concat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operations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which progressively reduce the resolution of feature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maps, ensuring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proper handling of objects at different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scales.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ttangolo 18"/>
          <p:cNvSpPr/>
          <p:nvPr/>
        </p:nvSpPr>
        <p:spPr>
          <a:xfrm>
            <a:off x="6317085" y="3068514"/>
            <a:ext cx="4374361" cy="15122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1" name="Connettore diritto 20"/>
          <p:cNvCxnSpPr/>
          <p:nvPr/>
        </p:nvCxnSpPr>
        <p:spPr>
          <a:xfrm>
            <a:off x="7218485" y="6268915"/>
            <a:ext cx="32091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/>
          <p:cNvCxnSpPr/>
          <p:nvPr/>
        </p:nvCxnSpPr>
        <p:spPr>
          <a:xfrm>
            <a:off x="6465277" y="6633576"/>
            <a:ext cx="2898531" cy="146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57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451223" cy="6857999"/>
          </a:xfrm>
          <a:prstGeom prst="rect">
            <a:avLst/>
          </a:prstGeom>
        </p:spPr>
      </p:pic>
      <p:sp>
        <p:nvSpPr>
          <p:cNvPr id="2" name="Rettangolo 1"/>
          <p:cNvSpPr/>
          <p:nvPr/>
        </p:nvSpPr>
        <p:spPr>
          <a:xfrm>
            <a:off x="1608992" y="0"/>
            <a:ext cx="10583008" cy="160899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787" y="211509"/>
            <a:ext cx="3027237" cy="966165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3288322" y="371425"/>
            <a:ext cx="5231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smtClean="0">
                <a:solidFill>
                  <a:schemeClr val="bg1"/>
                </a:solidFill>
              </a:rPr>
              <a:t>YOLOv10 Architecture</a:t>
            </a:r>
            <a:endParaRPr lang="it-IT" sz="3600" b="1" dirty="0">
              <a:solidFill>
                <a:schemeClr val="bg1"/>
              </a:solidFill>
            </a:endParaRPr>
          </a:p>
        </p:txBody>
      </p:sp>
      <p:sp>
        <p:nvSpPr>
          <p:cNvPr id="9" name="Rettangolo 8"/>
          <p:cNvSpPr/>
          <p:nvPr/>
        </p:nvSpPr>
        <p:spPr>
          <a:xfrm>
            <a:off x="3103685" y="4413738"/>
            <a:ext cx="272561" cy="2637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/>
          <p:cNvSpPr txBox="1"/>
          <p:nvPr/>
        </p:nvSpPr>
        <p:spPr>
          <a:xfrm>
            <a:off x="7121769" y="2620108"/>
            <a:ext cx="42203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Elimination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the NMS (Non-Maximum Suppression) post-processing step during training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Holistic approach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optimize every component of the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Partial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Self-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(PSA) 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tangolo 10"/>
          <p:cNvSpPr/>
          <p:nvPr/>
        </p:nvSpPr>
        <p:spPr>
          <a:xfrm>
            <a:off x="140677" y="290146"/>
            <a:ext cx="1125415" cy="5037992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/>
          <p:cNvSpPr/>
          <p:nvPr/>
        </p:nvSpPr>
        <p:spPr>
          <a:xfrm>
            <a:off x="2057400" y="2127738"/>
            <a:ext cx="3015762" cy="4659924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/>
          <p:cNvSpPr/>
          <p:nvPr/>
        </p:nvSpPr>
        <p:spPr>
          <a:xfrm>
            <a:off x="5433646" y="2127738"/>
            <a:ext cx="870439" cy="4659924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433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1" y="1598057"/>
            <a:ext cx="10058400" cy="5255514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0" y="0"/>
            <a:ext cx="12192000" cy="1600200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/>
          <p:cNvSpPr txBox="1"/>
          <p:nvPr/>
        </p:nvSpPr>
        <p:spPr>
          <a:xfrm>
            <a:off x="2074986" y="261490"/>
            <a:ext cx="54600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Setup and Analysis Conducted</a:t>
            </a:r>
            <a:endParaRPr lang="it-IT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17017"/>
            <a:ext cx="3027237" cy="966165"/>
          </a:xfrm>
          <a:prstGeom prst="rect">
            <a:avLst/>
          </a:prstGeom>
        </p:spPr>
      </p:pic>
      <p:sp>
        <p:nvSpPr>
          <p:cNvPr id="6" name="Ritardo 5"/>
          <p:cNvSpPr/>
          <p:nvPr/>
        </p:nvSpPr>
        <p:spPr>
          <a:xfrm>
            <a:off x="1" y="1615642"/>
            <a:ext cx="7407518" cy="5259943"/>
          </a:xfrm>
          <a:prstGeom prst="flowChartDelay">
            <a:avLst/>
          </a:prstGeom>
          <a:solidFill>
            <a:schemeClr val="bg1"/>
          </a:solidFill>
          <a:ln w="38100">
            <a:solidFill>
              <a:srgbClr val="2196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/>
          <p:cNvSpPr txBox="1"/>
          <p:nvPr/>
        </p:nvSpPr>
        <p:spPr>
          <a:xfrm>
            <a:off x="1055076" y="2778369"/>
            <a:ext cx="486214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it-IT" sz="28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tuning</a:t>
            </a:r>
            <a:endParaRPr lang="it-IT" sz="28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CO2 </a:t>
            </a:r>
            <a:r>
              <a:rPr lang="it-IT" sz="28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Emissions</a:t>
            </a:r>
            <a:endParaRPr lang="it-IT" sz="28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  <a:r>
              <a:rPr lang="it-IT" sz="28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it-IT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it-IT" sz="28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28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it-IT" sz="28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Works</a:t>
            </a:r>
            <a:endParaRPr lang="it-IT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78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9921"/>
            <a:ext cx="12192000" cy="5348079"/>
          </a:xfrm>
          <a:prstGeom prst="rect">
            <a:avLst/>
          </a:prstGeom>
        </p:spPr>
      </p:pic>
      <p:sp>
        <p:nvSpPr>
          <p:cNvPr id="2" name="Rettangolo 1"/>
          <p:cNvSpPr/>
          <p:nvPr/>
        </p:nvSpPr>
        <p:spPr>
          <a:xfrm>
            <a:off x="0" y="0"/>
            <a:ext cx="12192000" cy="149469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17017"/>
            <a:ext cx="3027237" cy="966165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2699238" y="317017"/>
            <a:ext cx="4897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it-IT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528024" y="2201894"/>
            <a:ext cx="11175023" cy="2532185"/>
          </a:xfrm>
          <a:prstGeom prst="rect">
            <a:avLst/>
          </a:prstGeom>
          <a:solidFill>
            <a:srgbClr val="E4F4FD"/>
          </a:solidFill>
          <a:ln>
            <a:solidFill>
              <a:srgbClr val="E4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624" y="1649958"/>
            <a:ext cx="4629684" cy="1334513"/>
          </a:xfrm>
          <a:prstGeom prst="rect">
            <a:avLst/>
          </a:prstGeom>
        </p:spPr>
      </p:pic>
      <p:sp>
        <p:nvSpPr>
          <p:cNvPr id="9" name="CasellaDiTesto 8"/>
          <p:cNvSpPr txBox="1"/>
          <p:nvPr/>
        </p:nvSpPr>
        <p:spPr>
          <a:xfrm>
            <a:off x="1238251" y="3124508"/>
            <a:ext cx="99741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Robust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given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by a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container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provide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consistent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isolated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conducting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omputational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capabilities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of an 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Intel(R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Xeon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(R) Gold 6254 CPU @ 3.10GHz and GPU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NVIDIA RTX 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A6000 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it-I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 trainings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66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12192000" cy="149469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28441"/>
            <a:ext cx="3027237" cy="966165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1965080" y="278943"/>
            <a:ext cx="5460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tuning</a:t>
            </a:r>
          </a:p>
          <a:p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Conducted tests</a:t>
            </a:r>
            <a:endParaRPr lang="it-IT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388" y="4523577"/>
            <a:ext cx="7486005" cy="2079446"/>
          </a:xfrm>
          <a:prstGeom prst="rect">
            <a:avLst/>
          </a:prstGeom>
        </p:spPr>
      </p:pic>
      <p:sp>
        <p:nvSpPr>
          <p:cNvPr id="6" name="Rettangolo 5"/>
          <p:cNvSpPr/>
          <p:nvPr/>
        </p:nvSpPr>
        <p:spPr>
          <a:xfrm>
            <a:off x="4580792" y="4598377"/>
            <a:ext cx="1969477" cy="2004646"/>
          </a:xfrm>
          <a:prstGeom prst="rect">
            <a:avLst/>
          </a:prstGeom>
          <a:noFill/>
          <a:ln w="57150">
            <a:solidFill>
              <a:srgbClr val="2196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7 7"/>
          <p:cNvCxnSpPr>
            <a:stCxn id="6" idx="0"/>
          </p:cNvCxnSpPr>
          <p:nvPr/>
        </p:nvCxnSpPr>
        <p:spPr>
          <a:xfrm rot="16200000" flipV="1">
            <a:off x="3442481" y="2475326"/>
            <a:ext cx="2039815" cy="2206287"/>
          </a:xfrm>
          <a:prstGeom prst="curvedConnector2">
            <a:avLst/>
          </a:prstGeom>
          <a:ln w="38100">
            <a:solidFill>
              <a:srgbClr val="2196F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magin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348">
            <a:off x="3749919" y="2514624"/>
            <a:ext cx="1030232" cy="1030232"/>
          </a:xfrm>
          <a:prstGeom prst="rect">
            <a:avLst/>
          </a:prstGeom>
        </p:spPr>
      </p:pic>
      <p:sp>
        <p:nvSpPr>
          <p:cNvPr id="15" name="CasellaDiTesto 14"/>
          <p:cNvSpPr txBox="1"/>
          <p:nvPr/>
        </p:nvSpPr>
        <p:spPr>
          <a:xfrm>
            <a:off x="153563" y="2242038"/>
            <a:ext cx="344249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Tested</a:t>
            </a:r>
            <a:r>
              <a:rPr lang="it-IT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it-I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Batch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Optimizer</a:t>
            </a: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Epochs</a:t>
            </a: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Learning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Momentum</a:t>
            </a: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Weight</a:t>
            </a: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Decay</a:t>
            </a: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Warmup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5793267" y="2098964"/>
            <a:ext cx="60518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yperparameter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tuning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YOLOv8s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YOLOv10s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architectures.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involved iteratively adjusting key parameters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to maximize the models' detection accuracy and efficiency.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5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6744">
              <a:srgbClr val="EDF2F9"/>
            </a:gs>
            <a:gs pos="70000">
              <a:srgbClr val="CAD7EE"/>
            </a:gs>
            <a:gs pos="0">
              <a:schemeClr val="accent5">
                <a:lumMod val="0"/>
                <a:lumOff val="100000"/>
              </a:schemeClr>
            </a:gs>
            <a:gs pos="20000">
              <a:schemeClr val="accent5">
                <a:lumMod val="0"/>
                <a:lumOff val="100000"/>
              </a:schemeClr>
            </a:gs>
            <a:gs pos="85000">
              <a:schemeClr val="accent5">
                <a:lumMod val="1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12192000" cy="149469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28441"/>
            <a:ext cx="3027237" cy="966165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1965080" y="278943"/>
            <a:ext cx="5460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tuning</a:t>
            </a:r>
          </a:p>
          <a:p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it-IT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285750" y="1773635"/>
            <a:ext cx="1181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                                                                               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437014" y="1385012"/>
            <a:ext cx="115084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400" b="1" dirty="0" smtClean="0">
                <a:latin typeface="Bahnschrift Light" panose="020B0502040204020203" pitchFamily="34" charset="0"/>
                <a:cs typeface="Arial" panose="020B0604020202020204" pitchFamily="34" charset="0"/>
              </a:rPr>
              <a:t>( </a:t>
            </a:r>
            <a:r>
              <a:rPr lang="it-IT" sz="2400" b="1" dirty="0" err="1">
                <a:latin typeface="Bahnschrift Light" panose="020B0502040204020203" pitchFamily="34" charset="0"/>
                <a:cs typeface="Arial" panose="020B0604020202020204" pitchFamily="34" charset="0"/>
              </a:rPr>
              <a:t>epochs</a:t>
            </a:r>
            <a:r>
              <a:rPr lang="it-IT" sz="2400" b="1" dirty="0">
                <a:latin typeface="Bahnschrift Light" panose="020B0502040204020203" pitchFamily="34" charset="0"/>
                <a:cs typeface="Arial" panose="020B0604020202020204" pitchFamily="34" charset="0"/>
              </a:rPr>
              <a:t>: 200, batch </a:t>
            </a:r>
            <a:r>
              <a:rPr lang="it-IT" sz="2400" b="1" dirty="0" err="1">
                <a:latin typeface="Bahnschrift Light" panose="020B0502040204020203" pitchFamily="34" charset="0"/>
                <a:cs typeface="Arial" panose="020B0604020202020204" pitchFamily="34" charset="0"/>
              </a:rPr>
              <a:t>size</a:t>
            </a:r>
            <a:r>
              <a:rPr lang="it-IT" sz="2400" b="1" dirty="0">
                <a:latin typeface="Bahnschrift Light" panose="020B0502040204020203" pitchFamily="34" charset="0"/>
                <a:cs typeface="Arial" panose="020B0604020202020204" pitchFamily="34" charset="0"/>
              </a:rPr>
              <a:t>: 64, </a:t>
            </a:r>
            <a:r>
              <a:rPr lang="it-IT" sz="2400" b="1" dirty="0" err="1">
                <a:latin typeface="Bahnschrift Light" panose="020B0502040204020203" pitchFamily="34" charset="0"/>
                <a:cs typeface="Arial" panose="020B0604020202020204" pitchFamily="34" charset="0"/>
              </a:rPr>
              <a:t>optimizer</a:t>
            </a:r>
            <a:r>
              <a:rPr lang="it-IT" sz="2400" b="1" dirty="0">
                <a:latin typeface="Bahnschrift Light" panose="020B0502040204020203" pitchFamily="34" charset="0"/>
                <a:cs typeface="Arial" panose="020B0604020202020204" pitchFamily="34" charset="0"/>
              </a:rPr>
              <a:t>: SGD, </a:t>
            </a:r>
            <a:r>
              <a:rPr lang="it-IT" sz="2400" b="1" dirty="0" err="1">
                <a:latin typeface="Bahnschrift Light" panose="020B0502040204020203" pitchFamily="34" charset="0"/>
                <a:cs typeface="Arial" panose="020B0604020202020204" pitchFamily="34" charset="0"/>
              </a:rPr>
              <a:t>lr</a:t>
            </a:r>
            <a:r>
              <a:rPr lang="it-IT" sz="2400" b="1" dirty="0">
                <a:latin typeface="Bahnschrift Light" panose="020B0502040204020203" pitchFamily="34" charset="0"/>
                <a:cs typeface="Arial" panose="020B0604020202020204" pitchFamily="34" charset="0"/>
              </a:rPr>
              <a:t>: 0.010, </a:t>
            </a:r>
            <a:r>
              <a:rPr lang="it-IT" sz="2400" b="1" dirty="0" err="1">
                <a:latin typeface="Bahnschrift Light" panose="020B0502040204020203" pitchFamily="34" charset="0"/>
                <a:cs typeface="Arial" panose="020B0604020202020204" pitchFamily="34" charset="0"/>
              </a:rPr>
              <a:t>wd</a:t>
            </a:r>
            <a:r>
              <a:rPr lang="it-IT" sz="2400" b="1" dirty="0">
                <a:latin typeface="Bahnschrift Light" panose="020B0502040204020203" pitchFamily="34" charset="0"/>
                <a:cs typeface="Arial" panose="020B0604020202020204" pitchFamily="34" charset="0"/>
              </a:rPr>
              <a:t>: </a:t>
            </a:r>
            <a:r>
              <a:rPr lang="it-IT" sz="2400" b="1" dirty="0" smtClean="0">
                <a:latin typeface="Bahnschrift Light" panose="020B0502040204020203" pitchFamily="34" charset="0"/>
                <a:cs typeface="Arial" panose="020B0604020202020204" pitchFamily="34" charset="0"/>
              </a:rPr>
              <a:t>0.0005, </a:t>
            </a:r>
            <a:r>
              <a:rPr lang="it-IT" sz="2400" b="1" dirty="0" err="1">
                <a:latin typeface="Bahnschrift Light" panose="020B0502040204020203" pitchFamily="34" charset="0"/>
                <a:cs typeface="Arial" panose="020B0604020202020204" pitchFamily="34" charset="0"/>
              </a:rPr>
              <a:t>wu</a:t>
            </a:r>
            <a:r>
              <a:rPr lang="it-IT" sz="2400" b="1" dirty="0">
                <a:latin typeface="Bahnschrift Light" panose="020B0502040204020203" pitchFamily="34" charset="0"/>
                <a:cs typeface="Arial" panose="020B0604020202020204" pitchFamily="34" charset="0"/>
              </a:rPr>
              <a:t>: 3, </a:t>
            </a:r>
            <a:r>
              <a:rPr lang="it-IT" sz="2400" b="1" dirty="0" err="1">
                <a:latin typeface="Bahnschrift Light" panose="020B0502040204020203" pitchFamily="34" charset="0"/>
                <a:cs typeface="Arial" panose="020B0604020202020204" pitchFamily="34" charset="0"/>
              </a:rPr>
              <a:t>mom</a:t>
            </a:r>
            <a:r>
              <a:rPr lang="it-IT" sz="2400" b="1" dirty="0">
                <a:latin typeface="Bahnschrift Light" panose="020B0502040204020203" pitchFamily="34" charset="0"/>
                <a:cs typeface="Arial" panose="020B0604020202020204" pitchFamily="34" charset="0"/>
              </a:rPr>
              <a:t>: 0.9</a:t>
            </a:r>
            <a:r>
              <a:rPr lang="it-IT" sz="2400" b="1" dirty="0" smtClean="0">
                <a:latin typeface="Bahnschrift Light" panose="020B0502040204020203" pitchFamily="34" charset="0"/>
                <a:cs typeface="Arial" panose="020B0604020202020204" pitchFamily="34" charset="0"/>
              </a:rPr>
              <a:t>)</a:t>
            </a:r>
            <a:endParaRPr lang="it-IT" sz="2400" b="1" dirty="0">
              <a:latin typeface="Bahnschrift Ligh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22" y="2275888"/>
            <a:ext cx="7902823" cy="1969627"/>
          </a:xfrm>
          <a:prstGeom prst="rect">
            <a:avLst/>
          </a:prstGeom>
          <a:ln>
            <a:noFill/>
          </a:ln>
          <a:effectLst>
            <a:outerShdw blurRad="12700" dist="50800" dir="5400000" algn="ctr" rotWithShape="0">
              <a:srgbClr val="000000">
                <a:alpha val="43137"/>
              </a:srgbClr>
            </a:outerShdw>
            <a:softEdge rad="112500"/>
          </a:effectLst>
        </p:spPr>
      </p:pic>
      <p:sp>
        <p:nvSpPr>
          <p:cNvPr id="8" name="Rettangolo 7"/>
          <p:cNvSpPr/>
          <p:nvPr/>
        </p:nvSpPr>
        <p:spPr>
          <a:xfrm>
            <a:off x="2973392" y="2804566"/>
            <a:ext cx="790575" cy="302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/>
          <p:cNvSpPr/>
          <p:nvPr/>
        </p:nvSpPr>
        <p:spPr>
          <a:xfrm>
            <a:off x="2959105" y="3328276"/>
            <a:ext cx="819150" cy="471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12" y="4386062"/>
            <a:ext cx="8214958" cy="2238278"/>
          </a:xfrm>
          <a:prstGeom prst="rect">
            <a:avLst/>
          </a:prstGeom>
          <a:effectLst>
            <a:outerShdw blurRad="1778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1" name="Rettangolo 10"/>
          <p:cNvSpPr/>
          <p:nvPr/>
        </p:nvSpPr>
        <p:spPr>
          <a:xfrm>
            <a:off x="741922" y="6006457"/>
            <a:ext cx="7419975" cy="2667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162" y="4481215"/>
            <a:ext cx="2143125" cy="2143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CasellaDiTesto 11"/>
          <p:cNvSpPr txBox="1"/>
          <p:nvPr/>
        </p:nvSpPr>
        <p:spPr>
          <a:xfrm>
            <a:off x="8934570" y="2804566"/>
            <a:ext cx="2768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/>
              <a:t>Time </a:t>
            </a:r>
            <a:r>
              <a:rPr lang="it-IT" sz="2400" b="1" dirty="0" err="1" smtClean="0"/>
              <a:t>avg</a:t>
            </a:r>
            <a:r>
              <a:rPr lang="it-IT" sz="2400" b="1" dirty="0" smtClean="0"/>
              <a:t> v8: 8h</a:t>
            </a:r>
          </a:p>
          <a:p>
            <a:r>
              <a:rPr lang="it-IT" sz="2400" b="1" dirty="0" smtClean="0"/>
              <a:t>Time </a:t>
            </a:r>
            <a:r>
              <a:rPr lang="it-IT" sz="2400" b="1" dirty="0" err="1" smtClean="0"/>
              <a:t>avg</a:t>
            </a:r>
            <a:r>
              <a:rPr lang="it-IT" sz="2400" b="1" dirty="0" smtClean="0"/>
              <a:t> v10: 10h</a:t>
            </a: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208887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449" y="3471109"/>
            <a:ext cx="1941134" cy="1941134"/>
          </a:xfrm>
          <a:prstGeom prst="rect">
            <a:avLst/>
          </a:prstGeom>
        </p:spPr>
      </p:pic>
      <p:sp>
        <p:nvSpPr>
          <p:cNvPr id="2" name="Rettangolo 1"/>
          <p:cNvSpPr/>
          <p:nvPr/>
        </p:nvSpPr>
        <p:spPr>
          <a:xfrm>
            <a:off x="0" y="0"/>
            <a:ext cx="12192000" cy="149469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17017"/>
            <a:ext cx="3027237" cy="966165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1978271" y="270292"/>
            <a:ext cx="54600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tuning</a:t>
            </a:r>
          </a:p>
          <a:p>
            <a:r>
              <a:rPr lang="en-US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CO2 Emissions</a:t>
            </a:r>
            <a:endParaRPr lang="it-IT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542926" y="4514192"/>
            <a:ext cx="44767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YOLOv8s with the best configuration emitted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1.82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CO2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YOLOv10s with the best configuration emitted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2.23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CO2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tangolo arrotondato 9"/>
          <p:cNvSpPr/>
          <p:nvPr/>
        </p:nvSpPr>
        <p:spPr>
          <a:xfrm>
            <a:off x="5318015" y="5127561"/>
            <a:ext cx="638175" cy="202239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/>
          <p:cNvSpPr txBox="1"/>
          <p:nvPr/>
        </p:nvSpPr>
        <p:spPr>
          <a:xfrm>
            <a:off x="6400799" y="4615216"/>
            <a:ext cx="3676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driving 9 km with a car</a:t>
            </a:r>
            <a:endParaRPr lang="it-IT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ttangolo arrotondato 12"/>
          <p:cNvSpPr/>
          <p:nvPr/>
        </p:nvSpPr>
        <p:spPr>
          <a:xfrm>
            <a:off x="5325842" y="5403307"/>
            <a:ext cx="638175" cy="202239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/>
          <p:cNvSpPr txBox="1"/>
          <p:nvPr/>
        </p:nvSpPr>
        <p:spPr>
          <a:xfrm>
            <a:off x="6270184" y="5460510"/>
            <a:ext cx="34629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Charging a smartphone 11 times</a:t>
            </a:r>
            <a:endParaRPr lang="it-IT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420" y="5127561"/>
            <a:ext cx="1857375" cy="1492417"/>
          </a:xfrm>
          <a:prstGeom prst="rect">
            <a:avLst/>
          </a:prstGeom>
        </p:spPr>
      </p:pic>
      <p:pic>
        <p:nvPicPr>
          <p:cNvPr id="23" name="Immagine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19" y="1526628"/>
            <a:ext cx="3362272" cy="3015081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580" y="2172357"/>
            <a:ext cx="6115230" cy="1769782"/>
          </a:xfrm>
          <a:prstGeom prst="rect">
            <a:avLst/>
          </a:prstGeom>
        </p:spPr>
      </p:pic>
      <p:sp>
        <p:nvSpPr>
          <p:cNvPr id="9" name="Rettangolo 8"/>
          <p:cNvSpPr/>
          <p:nvPr/>
        </p:nvSpPr>
        <p:spPr>
          <a:xfrm>
            <a:off x="6734175" y="2905125"/>
            <a:ext cx="904875" cy="36195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142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26">
              <a:srgbClr val="CCE0F2"/>
            </a:gs>
            <a:gs pos="27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320" y="4536278"/>
            <a:ext cx="7481439" cy="2040392"/>
          </a:xfrm>
          <a:prstGeom prst="rect">
            <a:avLst/>
          </a:prstGeom>
        </p:spPr>
      </p:pic>
      <p:pic>
        <p:nvPicPr>
          <p:cNvPr id="15" name="Immagin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46" y="2206202"/>
            <a:ext cx="6828112" cy="2286198"/>
          </a:xfrm>
          <a:prstGeom prst="rect">
            <a:avLst/>
          </a:prstGeom>
          <a:effectLst>
            <a:outerShdw blurRad="165100" dist="50800" dir="5400000" sx="31000" sy="31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" name="Rettangolo 1"/>
          <p:cNvSpPr/>
          <p:nvPr/>
        </p:nvSpPr>
        <p:spPr>
          <a:xfrm>
            <a:off x="0" y="0"/>
            <a:ext cx="12192000" cy="149469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17017"/>
            <a:ext cx="3027237" cy="966165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3215787" y="102680"/>
            <a:ext cx="546002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  <a:p>
            <a:r>
              <a:rPr lang="en-US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1550378" y="1589156"/>
            <a:ext cx="10990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tested the inference on both YOLOv8 and YOLOv10 using 3 samples.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10467975" y="2920640"/>
            <a:ext cx="1724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YOLOv8s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10561759" y="5325641"/>
            <a:ext cx="1971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YOLOv10s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tangolo 9"/>
          <p:cNvSpPr/>
          <p:nvPr/>
        </p:nvSpPr>
        <p:spPr>
          <a:xfrm>
            <a:off x="5525232" y="2408365"/>
            <a:ext cx="4810125" cy="23812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/>
          <p:cNvSpPr/>
          <p:nvPr/>
        </p:nvSpPr>
        <p:spPr>
          <a:xfrm>
            <a:off x="5419725" y="4781550"/>
            <a:ext cx="4769703" cy="238124"/>
          </a:xfrm>
          <a:prstGeom prst="rect">
            <a:avLst/>
          </a:prstGeom>
          <a:noFill/>
          <a:ln w="539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57" y="2066660"/>
            <a:ext cx="2448658" cy="2442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asellaDiTesto 12"/>
          <p:cNvSpPr txBox="1"/>
          <p:nvPr/>
        </p:nvSpPr>
        <p:spPr>
          <a:xfrm>
            <a:off x="764931" y="5094809"/>
            <a:ext cx="2450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Input sample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ccia in giù 13"/>
          <p:cNvSpPr/>
          <p:nvPr/>
        </p:nvSpPr>
        <p:spPr>
          <a:xfrm>
            <a:off x="1614367" y="4598377"/>
            <a:ext cx="260837" cy="6107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/>
          <p:cNvSpPr txBox="1"/>
          <p:nvPr/>
        </p:nvSpPr>
        <p:spPr>
          <a:xfrm>
            <a:off x="764931" y="5536807"/>
            <a:ext cx="2611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/>
              <a:t>Time </a:t>
            </a:r>
            <a:r>
              <a:rPr lang="it-IT" sz="2400" b="1" dirty="0" err="1" smtClean="0"/>
              <a:t>avg</a:t>
            </a:r>
            <a:r>
              <a:rPr lang="it-IT" sz="2400" b="1" dirty="0" smtClean="0"/>
              <a:t>: 2.5s </a:t>
            </a: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252617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12192000" cy="149469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/>
          <p:cNvSpPr txBox="1"/>
          <p:nvPr/>
        </p:nvSpPr>
        <p:spPr>
          <a:xfrm>
            <a:off x="4534634" y="177959"/>
            <a:ext cx="546002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  <a:p>
            <a:r>
              <a:rPr lang="en-U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Explainability</a:t>
            </a:r>
            <a:endParaRPr lang="en-US" sz="28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17017"/>
            <a:ext cx="3027237" cy="966165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448408" y="1609485"/>
            <a:ext cx="11605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Eigen</a:t>
            </a:r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CAM</a:t>
            </a:r>
            <a:r>
              <a:rPr lang="it-IT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technique applied in neural networks to generate an activation map that highlights the regions of an image that have most influenced the model's prediction.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70" y="3200400"/>
            <a:ext cx="5365904" cy="2523393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027" y="3200400"/>
            <a:ext cx="5395860" cy="2502685"/>
          </a:xfrm>
          <a:prstGeom prst="rect">
            <a:avLst/>
          </a:prstGeom>
        </p:spPr>
      </p:pic>
      <p:cxnSp>
        <p:nvCxnSpPr>
          <p:cNvPr id="9" name="Connettore diritto 8"/>
          <p:cNvCxnSpPr/>
          <p:nvPr/>
        </p:nvCxnSpPr>
        <p:spPr>
          <a:xfrm>
            <a:off x="6096000" y="2607043"/>
            <a:ext cx="0" cy="4250957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2356338" y="2672889"/>
            <a:ext cx="2567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YOLOv8s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8364415" y="2738735"/>
            <a:ext cx="2567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YOLOv10s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1093177" y="5987562"/>
            <a:ext cx="5002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smtClean="0">
                <a:solidFill>
                  <a:srgbClr val="FF0000"/>
                </a:solidFill>
              </a:rPr>
              <a:t>RED for the </a:t>
            </a:r>
            <a:r>
              <a:rPr lang="it-IT" sz="2000" b="1" dirty="0" err="1" smtClean="0">
                <a:solidFill>
                  <a:srgbClr val="FF0000"/>
                </a:solidFill>
              </a:rPr>
              <a:t>areas</a:t>
            </a:r>
            <a:r>
              <a:rPr lang="it-IT" sz="2000" b="1" dirty="0" smtClean="0">
                <a:solidFill>
                  <a:srgbClr val="FF0000"/>
                </a:solidFill>
              </a:rPr>
              <a:t> </a:t>
            </a:r>
            <a:r>
              <a:rPr lang="it-IT" sz="2000" b="1" dirty="0" err="1" smtClean="0">
                <a:solidFill>
                  <a:srgbClr val="FF0000"/>
                </a:solidFill>
              </a:rPr>
              <a:t>that</a:t>
            </a:r>
            <a:r>
              <a:rPr lang="it-IT" sz="2000" b="1" dirty="0" smtClean="0">
                <a:solidFill>
                  <a:srgbClr val="FF0000"/>
                </a:solidFill>
              </a:rPr>
              <a:t> </a:t>
            </a:r>
            <a:r>
              <a:rPr lang="it-IT" sz="2000" b="1" dirty="0" err="1" smtClean="0">
                <a:solidFill>
                  <a:srgbClr val="FF0000"/>
                </a:solidFill>
              </a:rPr>
              <a:t>influenced</a:t>
            </a:r>
            <a:r>
              <a:rPr lang="it-IT" sz="2000" b="1" dirty="0" smtClean="0">
                <a:solidFill>
                  <a:srgbClr val="FF0000"/>
                </a:solidFill>
              </a:rPr>
              <a:t> the </a:t>
            </a:r>
            <a:r>
              <a:rPr lang="it-IT" sz="2000" b="1" dirty="0" err="1" smtClean="0">
                <a:solidFill>
                  <a:srgbClr val="FF0000"/>
                </a:solidFill>
              </a:rPr>
              <a:t>most</a:t>
            </a:r>
            <a:endParaRPr lang="it-IT" sz="2000" b="1" dirty="0" smtClean="0">
              <a:solidFill>
                <a:srgbClr val="FF0000"/>
              </a:solidFill>
            </a:endParaRPr>
          </a:p>
          <a:p>
            <a:r>
              <a:rPr lang="it-IT" sz="2000" b="1" dirty="0" smtClean="0">
                <a:solidFill>
                  <a:srgbClr val="0070C0"/>
                </a:solidFill>
              </a:rPr>
              <a:t>BLUE for the </a:t>
            </a:r>
            <a:r>
              <a:rPr lang="it-IT" sz="2000" b="1" dirty="0" err="1" smtClean="0">
                <a:solidFill>
                  <a:srgbClr val="0070C0"/>
                </a:solidFill>
              </a:rPr>
              <a:t>areas</a:t>
            </a:r>
            <a:r>
              <a:rPr lang="it-IT" sz="2000" b="1" dirty="0" smtClean="0">
                <a:solidFill>
                  <a:srgbClr val="0070C0"/>
                </a:solidFill>
              </a:rPr>
              <a:t> of </a:t>
            </a:r>
            <a:r>
              <a:rPr lang="it-IT" sz="2000" b="1" dirty="0" err="1" smtClean="0">
                <a:solidFill>
                  <a:srgbClr val="0070C0"/>
                </a:solidFill>
              </a:rPr>
              <a:t>less</a:t>
            </a:r>
            <a:r>
              <a:rPr lang="it-IT" sz="2000" b="1" dirty="0" smtClean="0">
                <a:solidFill>
                  <a:srgbClr val="0070C0"/>
                </a:solidFill>
              </a:rPr>
              <a:t> </a:t>
            </a:r>
            <a:r>
              <a:rPr lang="it-IT" sz="2000" b="1" dirty="0" err="1" smtClean="0">
                <a:solidFill>
                  <a:srgbClr val="0070C0"/>
                </a:solidFill>
              </a:rPr>
              <a:t>importance</a:t>
            </a:r>
            <a:endParaRPr lang="it-IT" sz="2000" b="1" dirty="0">
              <a:solidFill>
                <a:srgbClr val="0070C0"/>
              </a:solidFill>
            </a:endParaRPr>
          </a:p>
        </p:txBody>
      </p:sp>
      <p:cxnSp>
        <p:nvCxnSpPr>
          <p:cNvPr id="16" name="Connettore 4 15"/>
          <p:cNvCxnSpPr/>
          <p:nvPr/>
        </p:nvCxnSpPr>
        <p:spPr>
          <a:xfrm rot="16200000" flipH="1">
            <a:off x="374714" y="5765248"/>
            <a:ext cx="1058857" cy="378068"/>
          </a:xfrm>
          <a:prstGeom prst="bentConnector3">
            <a:avLst>
              <a:gd name="adj1" fmla="val 9899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/>
          <p:cNvCxnSpPr/>
          <p:nvPr/>
        </p:nvCxnSpPr>
        <p:spPr>
          <a:xfrm flipH="1">
            <a:off x="2154115" y="5530362"/>
            <a:ext cx="8793" cy="5363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/>
          <p:cNvCxnSpPr/>
          <p:nvPr/>
        </p:nvCxnSpPr>
        <p:spPr>
          <a:xfrm flipH="1">
            <a:off x="9994657" y="3930162"/>
            <a:ext cx="705581" cy="2057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/>
          <p:cNvSpPr txBox="1"/>
          <p:nvPr/>
        </p:nvSpPr>
        <p:spPr>
          <a:xfrm>
            <a:off x="7411914" y="5954282"/>
            <a:ext cx="3781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Bounding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box and relative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Score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01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0"/>
            <a:ext cx="8454651" cy="6858000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1647825" y="0"/>
            <a:ext cx="10544175" cy="1647825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600" y="234430"/>
            <a:ext cx="3693988" cy="1178963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2121505" y="254524"/>
            <a:ext cx="58908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it-IT" sz="44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YOLOv8s </a:t>
            </a:r>
            <a:r>
              <a:rPr lang="it-IT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architecture’s</a:t>
            </a:r>
            <a:r>
              <a:rPr lang="it-IT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modifications</a:t>
            </a:r>
            <a:endParaRPr lang="it-IT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ccia a destra 8"/>
          <p:cNvSpPr/>
          <p:nvPr/>
        </p:nvSpPr>
        <p:spPr>
          <a:xfrm>
            <a:off x="8629032" y="5845237"/>
            <a:ext cx="778737" cy="492369"/>
          </a:xfrm>
          <a:prstGeom prst="rightArrow">
            <a:avLst/>
          </a:prstGeom>
          <a:solidFill>
            <a:srgbClr val="F9CE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/>
          <p:cNvSpPr txBox="1"/>
          <p:nvPr/>
        </p:nvSpPr>
        <p:spPr>
          <a:xfrm>
            <a:off x="9407769" y="5614367"/>
            <a:ext cx="1855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/>
              <a:t>Deleted</a:t>
            </a:r>
            <a:r>
              <a:rPr lang="it-IT" sz="2800" b="1" dirty="0" smtClean="0"/>
              <a:t> </a:t>
            </a:r>
            <a:r>
              <a:rPr lang="it-IT" sz="2800" b="1" dirty="0" err="1" smtClean="0"/>
              <a:t>Layers</a:t>
            </a:r>
            <a:endParaRPr lang="it-IT" sz="2800" b="1" dirty="0"/>
          </a:p>
        </p:txBody>
      </p:sp>
      <p:cxnSp>
        <p:nvCxnSpPr>
          <p:cNvPr id="12" name="Connettore 2 11"/>
          <p:cNvCxnSpPr/>
          <p:nvPr/>
        </p:nvCxnSpPr>
        <p:spPr>
          <a:xfrm>
            <a:off x="8493369" y="2321169"/>
            <a:ext cx="879231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/>
          <p:cNvSpPr txBox="1"/>
          <p:nvPr/>
        </p:nvSpPr>
        <p:spPr>
          <a:xfrm>
            <a:off x="9372600" y="1913892"/>
            <a:ext cx="2599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Objects </a:t>
            </a:r>
            <a:r>
              <a:rPr lang="it-IT" sz="2000" b="1" dirty="0" err="1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it-IT" sz="2000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000" b="1" dirty="0" err="1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endParaRPr lang="it-IT" sz="20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9018400" y="3300248"/>
            <a:ext cx="23748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Layer-based</a:t>
            </a:r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6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8026">
              <a:srgbClr val="CCE0F2"/>
            </a:gs>
            <a:gs pos="27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1" y="0"/>
            <a:ext cx="12192000" cy="1647825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246" y="626877"/>
            <a:ext cx="7491522" cy="6136238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395" y="479226"/>
            <a:ext cx="2159978" cy="689372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1793867" y="0"/>
            <a:ext cx="10075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it-IT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it-IT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YOLOv8s </a:t>
            </a:r>
            <a:r>
              <a:rPr lang="it-IT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it-IT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Small Objects</a:t>
            </a:r>
            <a:endParaRPr lang="it-IT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91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40" y="1759297"/>
            <a:ext cx="4915022" cy="4489939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949" y="1641520"/>
            <a:ext cx="4475677" cy="5216480"/>
          </a:xfrm>
          <a:prstGeom prst="rect">
            <a:avLst/>
          </a:prstGeom>
        </p:spPr>
      </p:pic>
      <p:sp>
        <p:nvSpPr>
          <p:cNvPr id="5" name="Rettangolo 4"/>
          <p:cNvSpPr/>
          <p:nvPr/>
        </p:nvSpPr>
        <p:spPr>
          <a:xfrm>
            <a:off x="0" y="0"/>
            <a:ext cx="12192000" cy="157424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676" y="291328"/>
            <a:ext cx="3227262" cy="1030004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325927" y="5137638"/>
            <a:ext cx="4819649" cy="685800"/>
          </a:xfrm>
          <a:prstGeom prst="rect">
            <a:avLst/>
          </a:prstGeom>
          <a:noFill/>
          <a:ln w="666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/>
          <p:cNvSpPr/>
          <p:nvPr/>
        </p:nvSpPr>
        <p:spPr>
          <a:xfrm>
            <a:off x="5139472" y="2243503"/>
            <a:ext cx="4561401" cy="876300"/>
          </a:xfrm>
          <a:prstGeom prst="rect">
            <a:avLst/>
          </a:prstGeom>
          <a:noFill/>
          <a:ln w="666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/>
          <p:cNvSpPr/>
          <p:nvPr/>
        </p:nvSpPr>
        <p:spPr>
          <a:xfrm>
            <a:off x="5240949" y="4249760"/>
            <a:ext cx="4295776" cy="1970350"/>
          </a:xfrm>
          <a:prstGeom prst="rect">
            <a:avLst/>
          </a:prstGeom>
          <a:noFill/>
          <a:ln w="666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/>
          <p:cNvSpPr txBox="1"/>
          <p:nvPr/>
        </p:nvSpPr>
        <p:spPr>
          <a:xfrm>
            <a:off x="1704975" y="82003"/>
            <a:ext cx="574357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it-IT" sz="54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 </a:t>
            </a:r>
            <a:r>
              <a:rPr lang="it-IT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Architecture’s</a:t>
            </a:r>
            <a:r>
              <a:rPr lang="it-IT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it-IT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modifications</a:t>
            </a:r>
            <a:endParaRPr lang="it-IT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Connettore diritto 10"/>
          <p:cNvCxnSpPr/>
          <p:nvPr/>
        </p:nvCxnSpPr>
        <p:spPr>
          <a:xfrm>
            <a:off x="1704975" y="2118946"/>
            <a:ext cx="967887" cy="0"/>
          </a:xfrm>
          <a:prstGeom prst="line">
            <a:avLst/>
          </a:prstGeom>
          <a:ln w="76200">
            <a:solidFill>
              <a:srgbClr val="34FF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/>
          <p:cNvCxnSpPr/>
          <p:nvPr/>
        </p:nvCxnSpPr>
        <p:spPr>
          <a:xfrm>
            <a:off x="6372225" y="1938579"/>
            <a:ext cx="404446" cy="7865"/>
          </a:xfrm>
          <a:prstGeom prst="line">
            <a:avLst/>
          </a:prstGeom>
          <a:ln w="76200">
            <a:solidFill>
              <a:srgbClr val="34FF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4 17"/>
          <p:cNvCxnSpPr/>
          <p:nvPr/>
        </p:nvCxnSpPr>
        <p:spPr>
          <a:xfrm>
            <a:off x="9700873" y="2409092"/>
            <a:ext cx="1298304" cy="782516"/>
          </a:xfrm>
          <a:prstGeom prst="bentConnector3">
            <a:avLst>
              <a:gd name="adj1" fmla="val 100114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/>
          <p:cNvSpPr txBox="1"/>
          <p:nvPr/>
        </p:nvSpPr>
        <p:spPr>
          <a:xfrm>
            <a:off x="10355739" y="3238115"/>
            <a:ext cx="18362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commented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out the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file’s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corrisponding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to the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layers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wanted</a:t>
            </a:r>
            <a:r>
              <a:rPr lang="it-IT" b="1" dirty="0" smtClean="0">
                <a:latin typeface="Arial" panose="020B0604020202020204" pitchFamily="34" charset="0"/>
                <a:cs typeface="Arial" panose="020B0604020202020204" pitchFamily="34" charset="0"/>
              </a:rPr>
              <a:t> to delete.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magin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241" y="3719032"/>
            <a:ext cx="285193" cy="1061455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5676900" y="6390738"/>
            <a:ext cx="581025" cy="286572"/>
          </a:xfrm>
          <a:prstGeom prst="rect">
            <a:avLst/>
          </a:prstGeom>
          <a:noFill/>
          <a:ln w="47625">
            <a:solidFill>
              <a:srgbClr val="4BE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482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6000">
              <a:srgbClr val="CCE0F2"/>
            </a:gs>
            <a:gs pos="25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78000">
              <a:schemeClr val="accent1">
                <a:lumMod val="7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52" y="2037349"/>
            <a:ext cx="7729948" cy="2109257"/>
          </a:xfrm>
          <a:prstGeom prst="rect">
            <a:avLst/>
          </a:prstGeom>
          <a:effectLst>
            <a:outerShdw blurRad="241300" dist="50800" dir="540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14" name="Immagin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694" y="1819455"/>
            <a:ext cx="2816067" cy="28160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ttangolo 2"/>
          <p:cNvSpPr/>
          <p:nvPr/>
        </p:nvSpPr>
        <p:spPr>
          <a:xfrm>
            <a:off x="0" y="0"/>
            <a:ext cx="12192000" cy="157424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676" y="291328"/>
            <a:ext cx="3227262" cy="1030004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1704975" y="82003"/>
            <a:ext cx="574357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it-IT" sz="54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YOLOv8s </a:t>
            </a:r>
            <a:r>
              <a:rPr lang="it-IT" sz="2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it-IT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2467531" y="2478343"/>
            <a:ext cx="4333875" cy="352425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/>
          <p:cNvSpPr txBox="1"/>
          <p:nvPr/>
        </p:nvSpPr>
        <p:spPr>
          <a:xfrm>
            <a:off x="266701" y="4718596"/>
            <a:ext cx="792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eduction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approximately </a:t>
            </a: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18%, 5462 seconds less!</a:t>
            </a:r>
            <a:endParaRPr lang="it-IT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ccia circolare a sinistra 10"/>
          <p:cNvSpPr/>
          <p:nvPr/>
        </p:nvSpPr>
        <p:spPr>
          <a:xfrm rot="20387271">
            <a:off x="7187244" y="2350416"/>
            <a:ext cx="780629" cy="2372663"/>
          </a:xfrm>
          <a:prstGeom prst="curvedLeftArrow">
            <a:avLst>
              <a:gd name="adj1" fmla="val 25000"/>
              <a:gd name="adj2" fmla="val 50000"/>
              <a:gd name="adj3" fmla="val 2258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323850" y="5349898"/>
            <a:ext cx="11544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YOLOv8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Small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Custom configuration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offers a clear advantage in terms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time efficiency,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with a significant reduction in execution times, at the cost of 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minimal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penalty in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performance.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2906282" y="6142023"/>
            <a:ext cx="596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Tradeoff </a:t>
            </a:r>
            <a:r>
              <a:rPr lang="en-US" sz="2800" b="1" dirty="0"/>
              <a:t>between </a:t>
            </a:r>
            <a:r>
              <a:rPr lang="en-US" sz="2800" b="1" dirty="0" smtClean="0"/>
              <a:t>Speed </a:t>
            </a:r>
            <a:r>
              <a:rPr lang="en-US" sz="2800" b="1" dirty="0"/>
              <a:t>and </a:t>
            </a:r>
            <a:r>
              <a:rPr lang="en-US" sz="2800" b="1" dirty="0" smtClean="0"/>
              <a:t>Accuracy </a:t>
            </a:r>
            <a:endParaRPr lang="it-IT" sz="2800" b="1" dirty="0"/>
          </a:p>
        </p:txBody>
      </p:sp>
    </p:spTree>
    <p:extLst>
      <p:ext uri="{BB962C8B-B14F-4D97-AF65-F5344CB8AC3E}">
        <p14:creationId xmlns:p14="http://schemas.microsoft.com/office/powerpoint/2010/main" val="355862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8676"/>
            <a:ext cx="6768662" cy="6679324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1555530" y="0"/>
            <a:ext cx="10636469" cy="157424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738" y="291328"/>
            <a:ext cx="3227262" cy="1030004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1704975" y="82003"/>
            <a:ext cx="574357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it-IT" sz="54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YOLOv10s </a:t>
            </a:r>
            <a:r>
              <a:rPr lang="it-IT" sz="2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Modifications</a:t>
            </a:r>
            <a:endParaRPr lang="it-IT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7388772" y="3825766"/>
            <a:ext cx="41831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procedure for YOLOv10s is the </a:t>
            </a:r>
            <a:r>
              <a:rPr lang="en-US" sz="2800" dirty="0" smtClean="0"/>
              <a:t>same of YOLOv8s procedure, </a:t>
            </a:r>
            <a:r>
              <a:rPr lang="en-US" sz="2800" dirty="0"/>
              <a:t>taking into account the slight architectural differences between the two models.</a:t>
            </a:r>
            <a:endParaRPr lang="it-IT" sz="2800" dirty="0"/>
          </a:p>
        </p:txBody>
      </p:sp>
      <p:cxnSp>
        <p:nvCxnSpPr>
          <p:cNvPr id="8" name="Connettore 2 7"/>
          <p:cNvCxnSpPr/>
          <p:nvPr/>
        </p:nvCxnSpPr>
        <p:spPr>
          <a:xfrm flipV="1">
            <a:off x="6621517" y="2564524"/>
            <a:ext cx="1292773" cy="7882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7914290" y="2176784"/>
            <a:ext cx="3426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Deleted</a:t>
            </a:r>
            <a:r>
              <a:rPr lang="it-IT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Layers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89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12191999" cy="157424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/>
          <p:cNvSpPr txBox="1"/>
          <p:nvPr/>
        </p:nvSpPr>
        <p:spPr>
          <a:xfrm>
            <a:off x="1704975" y="82003"/>
            <a:ext cx="574357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it-IT" sz="54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YOLOv10 </a:t>
            </a:r>
            <a:r>
              <a:rPr lang="it-IT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Architecture’s</a:t>
            </a:r>
            <a:r>
              <a:rPr lang="it-IT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it-IT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modifications</a:t>
            </a:r>
            <a:endParaRPr lang="it-IT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738" y="291328"/>
            <a:ext cx="3227262" cy="1030004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492" y="1865570"/>
            <a:ext cx="6239158" cy="4723962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08" y="1763908"/>
            <a:ext cx="5371084" cy="4927286"/>
          </a:xfrm>
          <a:prstGeom prst="rect">
            <a:avLst/>
          </a:prstGeom>
        </p:spPr>
      </p:pic>
      <p:sp>
        <p:nvSpPr>
          <p:cNvPr id="8" name="Rettangolo 7"/>
          <p:cNvSpPr/>
          <p:nvPr/>
        </p:nvSpPr>
        <p:spPr>
          <a:xfrm>
            <a:off x="545123" y="5583115"/>
            <a:ext cx="5125915" cy="54512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/>
          <p:cNvSpPr/>
          <p:nvPr/>
        </p:nvSpPr>
        <p:spPr>
          <a:xfrm>
            <a:off x="609600" y="6392008"/>
            <a:ext cx="3637085" cy="227765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/>
          <p:cNvSpPr/>
          <p:nvPr/>
        </p:nvSpPr>
        <p:spPr>
          <a:xfrm>
            <a:off x="5819492" y="2373924"/>
            <a:ext cx="5214854" cy="79423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/>
          <p:cNvSpPr/>
          <p:nvPr/>
        </p:nvSpPr>
        <p:spPr>
          <a:xfrm>
            <a:off x="5967947" y="4158763"/>
            <a:ext cx="6090704" cy="1858106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/>
          <p:cNvSpPr/>
          <p:nvPr/>
        </p:nvSpPr>
        <p:spPr>
          <a:xfrm>
            <a:off x="6304085" y="6053325"/>
            <a:ext cx="597877" cy="452983"/>
          </a:xfrm>
          <a:prstGeom prst="rect">
            <a:avLst/>
          </a:prstGeom>
          <a:noFill/>
          <a:ln w="57150">
            <a:solidFill>
              <a:srgbClr val="4BE1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721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6000">
              <a:srgbClr val="CCE0F2"/>
            </a:gs>
            <a:gs pos="20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78000">
              <a:schemeClr val="accent1">
                <a:lumMod val="7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12192000" cy="157424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/>
          <p:cNvSpPr txBox="1"/>
          <p:nvPr/>
        </p:nvSpPr>
        <p:spPr>
          <a:xfrm>
            <a:off x="1704975" y="82003"/>
            <a:ext cx="574357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it-IT" sz="54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IT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YOLOv10s </a:t>
            </a:r>
            <a:r>
              <a:rPr lang="it-IT" sz="2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it-IT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738" y="291328"/>
            <a:ext cx="3227262" cy="1030004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309" y="2448910"/>
            <a:ext cx="9483811" cy="2669627"/>
          </a:xfrm>
          <a:prstGeom prst="rect">
            <a:avLst/>
          </a:prstGeom>
          <a:effectLst>
            <a:outerShdw blurRad="4318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7" name="Rettangolo 6"/>
          <p:cNvSpPr/>
          <p:nvPr/>
        </p:nvSpPr>
        <p:spPr>
          <a:xfrm>
            <a:off x="3888828" y="3079531"/>
            <a:ext cx="4445875" cy="336331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553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180308"/>
            <a:ext cx="7687527" cy="5677692"/>
          </a:xfrm>
          <a:prstGeom prst="rect">
            <a:avLst/>
          </a:prstGeom>
        </p:spPr>
      </p:pic>
      <p:sp>
        <p:nvSpPr>
          <p:cNvPr id="2" name="Rettangolo 1"/>
          <p:cNvSpPr/>
          <p:nvPr/>
        </p:nvSpPr>
        <p:spPr>
          <a:xfrm>
            <a:off x="0" y="0"/>
            <a:ext cx="12192000" cy="157424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676" y="291328"/>
            <a:ext cx="3227262" cy="1030004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2019300" y="463955"/>
            <a:ext cx="574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it-IT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it-IT" sz="36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itardo 6"/>
          <p:cNvSpPr/>
          <p:nvPr/>
        </p:nvSpPr>
        <p:spPr>
          <a:xfrm>
            <a:off x="0" y="1574242"/>
            <a:ext cx="8020050" cy="5350433"/>
          </a:xfrm>
          <a:prstGeom prst="flowChartDelay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/>
          <p:cNvSpPr txBox="1"/>
          <p:nvPr/>
        </p:nvSpPr>
        <p:spPr>
          <a:xfrm>
            <a:off x="221272" y="2363512"/>
            <a:ext cx="605643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results obtained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have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shown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significant improvements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terms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compared to previous versions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Our analysis of CO2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suggests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that computational efficiency must be balanced with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need to reduce the carbon footprint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 found a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tradeoff between speed and accuracy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through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our customized architecture for small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objects.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58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0" y="0"/>
            <a:ext cx="12192000" cy="1574242"/>
          </a:xfrm>
          <a:prstGeom prst="rect">
            <a:avLst/>
          </a:prstGeom>
          <a:solidFill>
            <a:srgbClr val="C1092A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676" y="291328"/>
            <a:ext cx="3227262" cy="1030004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2019300" y="463955"/>
            <a:ext cx="574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Works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574240"/>
            <a:ext cx="10058400" cy="5283759"/>
          </a:xfrm>
          <a:prstGeom prst="rect">
            <a:avLst/>
          </a:prstGeom>
        </p:spPr>
      </p:pic>
      <p:sp>
        <p:nvSpPr>
          <p:cNvPr id="7" name="Ritardo 6"/>
          <p:cNvSpPr/>
          <p:nvPr/>
        </p:nvSpPr>
        <p:spPr>
          <a:xfrm>
            <a:off x="0" y="1574240"/>
            <a:ext cx="7296150" cy="5283760"/>
          </a:xfrm>
          <a:prstGeom prst="flowChartDelay">
            <a:avLst/>
          </a:prstGeom>
          <a:solidFill>
            <a:schemeClr val="bg1"/>
          </a:solidFill>
          <a:ln w="38100">
            <a:solidFill>
              <a:srgbClr val="2196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314325" y="2450035"/>
            <a:ext cx="601613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Using a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MobileNet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as a convolutional backbone could significantly increase the computational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Approach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task not only as a detection task but also as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</a:p>
          <a:p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Focus on developing energy-efficient training protocols and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optimizing the computational resources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required for both training and inference. </a:t>
            </a:r>
            <a:endParaRPr lang="it-I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30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-114301" y="838200"/>
            <a:ext cx="67056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it-IT" sz="4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4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it-IT" sz="4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</a:t>
            </a:r>
            <a:r>
              <a:rPr lang="it-IT" sz="4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endParaRPr lang="it-IT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1876425" y="2598003"/>
            <a:ext cx="48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Zazzarini Micol</a:t>
            </a:r>
          </a:p>
          <a:p>
            <a:r>
              <a:rPr lang="it-IT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Fiorani</a:t>
            </a:r>
            <a:r>
              <a:rPr lang="it-IT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Andrea</a:t>
            </a:r>
            <a:endParaRPr lang="it-IT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6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12192000" cy="1515084"/>
          </a:xfrm>
          <a:prstGeom prst="rect">
            <a:avLst/>
          </a:prstGeom>
          <a:solidFill>
            <a:srgbClr val="C109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/>
          <p:cNvSpPr txBox="1"/>
          <p:nvPr/>
        </p:nvSpPr>
        <p:spPr>
          <a:xfrm>
            <a:off x="2181225" y="76649"/>
            <a:ext cx="61384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 </a:t>
            </a:r>
            <a:r>
              <a:rPr lang="it-IT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it-IT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  <a:endParaRPr lang="it-IT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71" y="1366659"/>
            <a:ext cx="8666317" cy="5442818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720" y="104775"/>
            <a:ext cx="3733800" cy="1191670"/>
          </a:xfrm>
          <a:prstGeom prst="rect">
            <a:avLst/>
          </a:prstGeom>
        </p:spPr>
      </p:pic>
      <p:sp>
        <p:nvSpPr>
          <p:cNvPr id="11" name="CasellaDiTesto 10"/>
          <p:cNvSpPr txBox="1"/>
          <p:nvPr/>
        </p:nvSpPr>
        <p:spPr>
          <a:xfrm>
            <a:off x="9377694" y="3892240"/>
            <a:ext cx="26758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Architecture’s</a:t>
            </a:r>
            <a:r>
              <a:rPr lang="it-I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  <a:r>
              <a:rPr lang="it-I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C2f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Bottleneck</a:t>
            </a: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SPPF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Conv</a:t>
            </a:r>
            <a:endParaRPr lang="it-IT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Detect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ttore 4 12"/>
          <p:cNvCxnSpPr/>
          <p:nvPr/>
        </p:nvCxnSpPr>
        <p:spPr>
          <a:xfrm>
            <a:off x="8827477" y="2312377"/>
            <a:ext cx="1424354" cy="413238"/>
          </a:xfrm>
          <a:prstGeom prst="bentConnector3">
            <a:avLst>
              <a:gd name="adj1" fmla="val 100000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/>
          <p:cNvSpPr txBox="1"/>
          <p:nvPr/>
        </p:nvSpPr>
        <p:spPr>
          <a:xfrm>
            <a:off x="9246925" y="2725615"/>
            <a:ext cx="258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MODEL VARIANTS</a:t>
            </a:r>
            <a:endParaRPr lang="it-IT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3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12192000" cy="1468315"/>
          </a:xfrm>
          <a:prstGeom prst="rect">
            <a:avLst/>
          </a:prstGeom>
          <a:solidFill>
            <a:srgbClr val="C1092A"/>
          </a:solidFill>
          <a:ln>
            <a:solidFill>
              <a:srgbClr val="C109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603" y="771524"/>
            <a:ext cx="3591451" cy="6086475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1228558" y="0"/>
            <a:ext cx="6505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 </a:t>
            </a:r>
            <a:r>
              <a:rPr lang="it-IT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it-IT" sz="4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32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lang="it-IT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237" y="421947"/>
            <a:ext cx="3032722" cy="967916"/>
          </a:xfrm>
          <a:prstGeom prst="rect">
            <a:avLst/>
          </a:prstGeom>
        </p:spPr>
      </p:pic>
      <p:sp>
        <p:nvSpPr>
          <p:cNvPr id="2" name="CasellaDiTesto 1"/>
          <p:cNvSpPr txBox="1"/>
          <p:nvPr/>
        </p:nvSpPr>
        <p:spPr>
          <a:xfrm>
            <a:off x="8546123" y="2855323"/>
            <a:ext cx="33877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backbone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is responsible for feature extraction from the input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633047" y="3145495"/>
            <a:ext cx="2734002" cy="1569660"/>
          </a:xfrm>
          <a:prstGeom prst="rect">
            <a:avLst/>
          </a:prstGeom>
          <a:noFill/>
          <a:ln w="38100">
            <a:solidFill>
              <a:srgbClr val="2196F3"/>
            </a:solidFill>
          </a:ln>
        </p:spPr>
        <p:txBody>
          <a:bodyPr wrap="square" rtlCol="0">
            <a:spAutoFit/>
          </a:bodyPr>
          <a:lstStyle/>
          <a:p>
            <a:r>
              <a:rPr lang="it-IT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Composed</a:t>
            </a:r>
            <a:r>
              <a:rPr lang="it-IT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Conv</a:t>
            </a:r>
            <a:r>
              <a:rPr lang="it-IT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layers</a:t>
            </a:r>
            <a:endParaRPr lang="it-IT" sz="2400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C2f </a:t>
            </a:r>
            <a:r>
              <a:rPr lang="it-IT" sz="2400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  <a:endParaRPr lang="it-IT" sz="2400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SPPF </a:t>
            </a:r>
            <a:r>
              <a:rPr lang="it-IT" sz="2400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endParaRPr lang="it-IT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Connettore 2 8"/>
          <p:cNvCxnSpPr/>
          <p:nvPr/>
        </p:nvCxnSpPr>
        <p:spPr>
          <a:xfrm flipH="1">
            <a:off x="3455377" y="2664069"/>
            <a:ext cx="913866" cy="481427"/>
          </a:xfrm>
          <a:prstGeom prst="straightConnector1">
            <a:avLst/>
          </a:prstGeom>
          <a:ln w="38100">
            <a:solidFill>
              <a:srgbClr val="DAC1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/>
          <p:cNvCxnSpPr/>
          <p:nvPr/>
        </p:nvCxnSpPr>
        <p:spPr>
          <a:xfrm flipH="1">
            <a:off x="3455377" y="3474036"/>
            <a:ext cx="913866" cy="2714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/>
          <p:cNvCxnSpPr/>
          <p:nvPr/>
        </p:nvCxnSpPr>
        <p:spPr>
          <a:xfrm flipH="1" flipV="1">
            <a:off x="3455377" y="4715156"/>
            <a:ext cx="913866" cy="1404290"/>
          </a:xfrm>
          <a:prstGeom prst="straightConnector1">
            <a:avLst/>
          </a:prstGeom>
          <a:ln w="38100">
            <a:solidFill>
              <a:srgbClr val="FEAE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86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-10765"/>
            <a:ext cx="12192000" cy="1496666"/>
          </a:xfrm>
          <a:prstGeom prst="rect">
            <a:avLst/>
          </a:prstGeom>
          <a:solidFill>
            <a:srgbClr val="C1092A"/>
          </a:solidFill>
          <a:ln>
            <a:solidFill>
              <a:srgbClr val="C109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594" y="969537"/>
            <a:ext cx="6385725" cy="5697442"/>
          </a:xfrm>
          <a:prstGeom prst="rect">
            <a:avLst/>
          </a:prstGeom>
        </p:spPr>
      </p:pic>
      <p:sp>
        <p:nvSpPr>
          <p:cNvPr id="5" name="CasellaDiTesto 4"/>
          <p:cNvSpPr txBox="1"/>
          <p:nvPr/>
        </p:nvSpPr>
        <p:spPr>
          <a:xfrm>
            <a:off x="1365571" y="267205"/>
            <a:ext cx="65055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YOLOv8 </a:t>
            </a:r>
            <a:r>
              <a:rPr lang="it-IT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it-IT" sz="36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8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Neck</a:t>
            </a:r>
            <a:endParaRPr lang="it-IT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25" y="322732"/>
            <a:ext cx="3027237" cy="966165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9522070" y="2479430"/>
            <a:ext cx="228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neck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responsible for integrating information from various resolution scales. </a:t>
            </a:r>
            <a:endParaRPr lang="it-IT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87923" y="3134534"/>
            <a:ext cx="2243714" cy="1631216"/>
          </a:xfrm>
          <a:prstGeom prst="rect">
            <a:avLst/>
          </a:prstGeom>
          <a:noFill/>
          <a:ln w="28575">
            <a:solidFill>
              <a:srgbClr val="2196F3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dirty="0" err="1" smtClean="0"/>
              <a:t>Composed</a:t>
            </a:r>
            <a:r>
              <a:rPr lang="it-IT" sz="2000" dirty="0" smtClean="0"/>
              <a:t>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u="sng" dirty="0" smtClean="0"/>
              <a:t>C2f </a:t>
            </a:r>
            <a:r>
              <a:rPr lang="it-IT" sz="2000" u="sng" dirty="0" err="1" smtClean="0"/>
              <a:t>blocks</a:t>
            </a:r>
            <a:endParaRPr lang="it-IT" sz="2000" u="sng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u="sng" dirty="0" err="1" smtClean="0"/>
              <a:t>Concat</a:t>
            </a:r>
            <a:r>
              <a:rPr lang="it-IT" sz="2000" u="sng" dirty="0" smtClean="0"/>
              <a:t> </a:t>
            </a:r>
            <a:r>
              <a:rPr lang="it-IT" sz="2000" u="sng" dirty="0" err="1" smtClean="0"/>
              <a:t>blocks</a:t>
            </a:r>
            <a:endParaRPr lang="it-IT" sz="2000" u="sng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u="sng" dirty="0" err="1" smtClean="0"/>
              <a:t>Conv</a:t>
            </a:r>
            <a:r>
              <a:rPr lang="it-IT" sz="2000" u="sng" dirty="0" smtClean="0"/>
              <a:t> </a:t>
            </a:r>
            <a:r>
              <a:rPr lang="it-IT" sz="2000" u="sng" dirty="0" err="1" smtClean="0"/>
              <a:t>layers</a:t>
            </a:r>
            <a:endParaRPr lang="it-IT" sz="2000" u="sng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u="sng" dirty="0" err="1" smtClean="0"/>
              <a:t>Upsample</a:t>
            </a:r>
            <a:r>
              <a:rPr lang="it-IT" sz="2000" u="sng" dirty="0" smtClean="0"/>
              <a:t> </a:t>
            </a:r>
            <a:r>
              <a:rPr lang="it-IT" sz="2000" u="sng" dirty="0" err="1" smtClean="0"/>
              <a:t>blocks</a:t>
            </a:r>
            <a:endParaRPr lang="it-IT" sz="2000" u="sng" dirty="0" smtClean="0"/>
          </a:p>
        </p:txBody>
      </p:sp>
      <p:cxnSp>
        <p:nvCxnSpPr>
          <p:cNvPr id="19" name="Connettore 2 18"/>
          <p:cNvCxnSpPr/>
          <p:nvPr/>
        </p:nvCxnSpPr>
        <p:spPr>
          <a:xfrm flipH="1">
            <a:off x="1784840" y="1739045"/>
            <a:ext cx="1151548" cy="13954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/>
          <p:cNvCxnSpPr/>
          <p:nvPr/>
        </p:nvCxnSpPr>
        <p:spPr>
          <a:xfrm flipH="1" flipV="1">
            <a:off x="1485900" y="4765750"/>
            <a:ext cx="1248508" cy="109871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/>
          <p:cNvCxnSpPr/>
          <p:nvPr/>
        </p:nvCxnSpPr>
        <p:spPr>
          <a:xfrm flipH="1" flipV="1">
            <a:off x="2360614" y="4343400"/>
            <a:ext cx="892540" cy="42235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/>
          <p:cNvCxnSpPr/>
          <p:nvPr/>
        </p:nvCxnSpPr>
        <p:spPr>
          <a:xfrm>
            <a:off x="6745731" y="6101862"/>
            <a:ext cx="0" cy="483576"/>
          </a:xfrm>
          <a:prstGeom prst="line">
            <a:avLst/>
          </a:prstGeom>
          <a:ln w="28575">
            <a:solidFill>
              <a:srgbClr val="C109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/>
          <p:cNvCxnSpPr/>
          <p:nvPr/>
        </p:nvCxnSpPr>
        <p:spPr>
          <a:xfrm flipH="1" flipV="1">
            <a:off x="879231" y="6550009"/>
            <a:ext cx="5866500" cy="35429"/>
          </a:xfrm>
          <a:prstGeom prst="line">
            <a:avLst/>
          </a:prstGeom>
          <a:ln w="28575">
            <a:solidFill>
              <a:srgbClr val="C109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/>
          <p:nvPr/>
        </p:nvCxnSpPr>
        <p:spPr>
          <a:xfrm flipV="1">
            <a:off x="879231" y="4765750"/>
            <a:ext cx="0" cy="1784259"/>
          </a:xfrm>
          <a:prstGeom prst="straightConnector1">
            <a:avLst/>
          </a:prstGeom>
          <a:ln w="28575">
            <a:solidFill>
              <a:srgbClr val="C109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46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0" y="0"/>
            <a:ext cx="12192000" cy="1494692"/>
          </a:xfrm>
          <a:prstGeom prst="rect">
            <a:avLst/>
          </a:prstGeom>
          <a:solidFill>
            <a:srgbClr val="C109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/>
          <p:cNvSpPr txBox="1"/>
          <p:nvPr/>
        </p:nvSpPr>
        <p:spPr>
          <a:xfrm>
            <a:off x="1965080" y="278943"/>
            <a:ext cx="5460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en-US" sz="3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tuning</a:t>
            </a:r>
          </a:p>
          <a:p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it-IT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28441"/>
            <a:ext cx="3027237" cy="966165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73" y="2066192"/>
            <a:ext cx="5201280" cy="4551993"/>
          </a:xfrm>
          <a:prstGeom prst="rect">
            <a:avLst/>
          </a:prstGeom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686" y="1958044"/>
            <a:ext cx="5530361" cy="473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1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0" y="0"/>
            <a:ext cx="12192000" cy="1494692"/>
          </a:xfrm>
          <a:prstGeom prst="rect">
            <a:avLst/>
          </a:prstGeom>
          <a:solidFill>
            <a:srgbClr val="C109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/>
          <p:cNvSpPr txBox="1"/>
          <p:nvPr/>
        </p:nvSpPr>
        <p:spPr>
          <a:xfrm>
            <a:off x="4534634" y="177959"/>
            <a:ext cx="546002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  <a:p>
            <a:r>
              <a:rPr lang="en-US" sz="2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810" y="317017"/>
            <a:ext cx="3027237" cy="966165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41" y="1575704"/>
            <a:ext cx="5162766" cy="5186412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539" y="1633749"/>
            <a:ext cx="5207022" cy="512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1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1749</TotalTime>
  <Words>1337</Words>
  <Application>Microsoft Office PowerPoint</Application>
  <PresentationFormat>Widescreen</PresentationFormat>
  <Paragraphs>247</Paragraphs>
  <Slides>37</Slides>
  <Notes>0</Notes>
  <HiddenSlides>5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37</vt:i4>
      </vt:variant>
    </vt:vector>
  </HeadingPairs>
  <TitlesOfParts>
    <vt:vector size="44" baseType="lpstr">
      <vt:lpstr>Microsoft JhengHei Light</vt:lpstr>
      <vt:lpstr>Arial</vt:lpstr>
      <vt:lpstr>Bahnschrift Light</vt:lpstr>
      <vt:lpstr>Calibri</vt:lpstr>
      <vt:lpstr>Calibri Light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 elaborate SAR images to detect vessels (INN)</dc:title>
  <dc:creator>Micol</dc:creator>
  <cp:lastModifiedBy>Micol</cp:lastModifiedBy>
  <cp:revision>128</cp:revision>
  <dcterms:created xsi:type="dcterms:W3CDTF">2024-09-13T12:06:01Z</dcterms:created>
  <dcterms:modified xsi:type="dcterms:W3CDTF">2024-09-18T09:00:05Z</dcterms:modified>
</cp:coreProperties>
</file>